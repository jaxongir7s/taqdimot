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theme" Target="theme/theme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2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1232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571500" y="1143000"/>
            <a:ext cx="76200" cy="28575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5" name="Shape 5"/>
          <p:cNvSpPr/>
          <p:nvPr/>
        </p:nvSpPr>
        <p:spPr>
          <a:xfrm>
            <a:off x="809625" y="104775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F5B37A"/>
                </a:solidFill>
                <a:latin typeface="Arial"/>
                <a:cs typeface="Arial"/>
              </a:rPr>
              <a:t>4-MAVZU  •  MAʼRUZA</a:t>
            </a:r>
            <a:endParaRPr lang="uz-Latn-UZ" sz="1600" dirty="0"/>
          </a:p>
        </p:txBody>
      </p:sp>
      <p:sp>
        <p:nvSpPr>
          <p:cNvPr id="6" name="Shape 6"/>
          <p:cNvSpPr/>
          <p:nvPr/>
        </p:nvSpPr>
        <p:spPr>
          <a:xfrm>
            <a:off x="809625" y="1428750"/>
            <a:ext cx="5524500" cy="2190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uz-Latn-UZ" sz="3200" b="1" i="0" dirty="0">
                <a:solidFill>
                  <a:srgbClr val="FFFFFF"/>
                </a:solidFill>
                <a:latin typeface="Arial"/>
                <a:cs typeface="Arial"/>
              </a:rPr>
              <a:t>Ildizmevali ekinlar va qand lavlagini saqlash davridagi jarayonlar va saqlash texnologiyasi</a:t>
            </a:r>
            <a:endParaRPr lang="uz-Latn-UZ" sz="3200" dirty="0"/>
          </a:p>
        </p:txBody>
      </p:sp>
      <p:sp>
        <p:nvSpPr>
          <p:cNvPr id="7" name="Shape 7"/>
          <p:cNvSpPr/>
          <p:nvPr/>
        </p:nvSpPr>
        <p:spPr>
          <a:xfrm>
            <a:off x="809625" y="3714750"/>
            <a:ext cx="5334000" cy="666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CFE3CB"/>
                </a:solidFill>
                <a:latin typeface="Arial"/>
                <a:cs typeface="Arial"/>
              </a:rPr>
              <a:t>Fan: Qishloq xoʻjalik mahsulotlarini saqlash va dastlabki ishlash texnologiyasi</a:t>
            </a:r>
            <a:endParaRPr lang="uz-Latn-UZ" sz="1600" dirty="0"/>
          </a:p>
        </p:txBody>
      </p:sp>
      <p:sp>
        <p:nvSpPr>
          <p:cNvPr id="8" name="Shape 8"/>
          <p:cNvSpPr/>
          <p:nvPr/>
        </p:nvSpPr>
        <p:spPr>
          <a:xfrm>
            <a:off x="809625" y="44767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uz-Latn-UZ" sz="1500" b="0" i="0" dirty="0">
                <a:solidFill>
                  <a:srgbClr val="CFE3CB"/>
                </a:solidFill>
                <a:latin typeface="Arial"/>
                <a:cs typeface="Arial"/>
              </a:rPr>
              <a:t>Oʻqituvchi: ______________________</a:t>
            </a:r>
            <a:endParaRPr lang="uz-Latn-UZ" sz="1500" dirty="0"/>
          </a:p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CFE3CB"/>
                </a:solidFill>
                <a:latin typeface="Arial"/>
                <a:cs typeface="Arial"/>
              </a:rPr>
              <a:t>Guruh: ________     Sana: ________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6477000" y="1047750"/>
            <a:ext cx="5334000" cy="3429000"/>
          </a:xfrm>
          <a:prstGeom prst="roundRect">
            <a:avLst>
              <a:gd name="adj" fmla="val 8000"/>
            </a:avLst>
          </a:prstGeom>
          <a:solidFill>
            <a:srgbClr val="F4FBF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162050"/>
            <a:ext cx="5143500" cy="3200400"/>
          </a:xfrm>
          <a:prstGeom prst="rect">
            <a:avLst/>
          </a:prstGeom>
        </p:spPr>
      </p:pic>
      <p:sp>
        <p:nvSpPr>
          <p:cNvPr id="11" name="Shape 11"/>
          <p:cNvSpPr/>
          <p:nvPr/>
        </p:nvSpPr>
        <p:spPr>
          <a:xfrm>
            <a:off x="571500" y="6238875"/>
            <a:ext cx="11049000" cy="476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9FC59A"/>
                </a:solidFill>
                <a:latin typeface="Arial"/>
                <a:cs typeface="Arial"/>
              </a:rPr>
              <a:t>Sabzi • Xoʻraki lavlagi • Qand lavlagi • Sholgʻom • Turp • Petrushka • Selderey</a:t>
            </a:r>
            <a:endParaRPr lang="uz-Latn-UZ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Dars rejasi va maqsadi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0012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200" b="1" i="0" dirty="0">
                <a:solidFill>
                  <a:srgbClr val="1E5631"/>
                </a:solidFill>
                <a:latin typeface="Arial"/>
                <a:cs typeface="Arial"/>
              </a:rPr>
              <a:t>Dars rejasi</a:t>
            </a:r>
            <a:endParaRPr lang="uz-Latn-UZ" sz="2200" dirty="0"/>
          </a:p>
        </p:txBody>
      </p:sp>
      <p:sp>
        <p:nvSpPr>
          <p:cNvPr id="6" name="Shape 6"/>
          <p:cNvSpPr/>
          <p:nvPr/>
        </p:nvSpPr>
        <p:spPr>
          <a:xfrm>
            <a:off x="381000" y="144780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144780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933450" y="144780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Ildizmevali ekinlar va ularning kimyoviy tarkibi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381000" y="203835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203835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uz-Latn-UZ" sz="1800" dirty="0"/>
          </a:p>
        </p:txBody>
      </p:sp>
      <p:sp>
        <p:nvSpPr>
          <p:cNvPr id="11" name="Shape 11"/>
          <p:cNvSpPr/>
          <p:nvPr/>
        </p:nvSpPr>
        <p:spPr>
          <a:xfrm>
            <a:off x="933450" y="203835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Saqlanuvchanlikka taʼsir etuvchi omillar</a:t>
            </a:r>
            <a:endParaRPr lang="uz-Latn-UZ" sz="1600" dirty="0"/>
          </a:p>
        </p:txBody>
      </p:sp>
      <p:sp>
        <p:nvSpPr>
          <p:cNvPr id="12" name="Shape 12"/>
          <p:cNvSpPr/>
          <p:nvPr/>
        </p:nvSpPr>
        <p:spPr>
          <a:xfrm>
            <a:off x="381000" y="262890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3" name="Shape 13"/>
          <p:cNvSpPr/>
          <p:nvPr/>
        </p:nvSpPr>
        <p:spPr>
          <a:xfrm>
            <a:off x="381000" y="262890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uz-Latn-UZ" sz="1800" dirty="0"/>
          </a:p>
        </p:txBody>
      </p:sp>
      <p:sp>
        <p:nvSpPr>
          <p:cNvPr id="14" name="Shape 14"/>
          <p:cNvSpPr/>
          <p:nvPr/>
        </p:nvSpPr>
        <p:spPr>
          <a:xfrm>
            <a:off x="933450" y="262890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Saqlash davrida sodir boʻladigan fiziologik va biokimyoviy jarayonlar</a:t>
            </a:r>
            <a:endParaRPr lang="uz-Latn-UZ" sz="1600" dirty="0"/>
          </a:p>
        </p:txBody>
      </p:sp>
      <p:sp>
        <p:nvSpPr>
          <p:cNvPr id="15" name="Shape 15"/>
          <p:cNvSpPr/>
          <p:nvPr/>
        </p:nvSpPr>
        <p:spPr>
          <a:xfrm>
            <a:off x="381000" y="321945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381000" y="321945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uz-Latn-UZ" sz="1800" dirty="0"/>
          </a:p>
        </p:txBody>
      </p:sp>
      <p:sp>
        <p:nvSpPr>
          <p:cNvPr id="17" name="Shape 17"/>
          <p:cNvSpPr/>
          <p:nvPr/>
        </p:nvSpPr>
        <p:spPr>
          <a:xfrm>
            <a:off x="933450" y="321945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Qand lavlagidagi oʻzgarishlar va saxaroza yoʻqotilishi</a:t>
            </a:r>
            <a:endParaRPr lang="uz-Latn-UZ" sz="1600" dirty="0"/>
          </a:p>
        </p:txBody>
      </p:sp>
      <p:sp>
        <p:nvSpPr>
          <p:cNvPr id="18" name="Shape 18"/>
          <p:cNvSpPr/>
          <p:nvPr/>
        </p:nvSpPr>
        <p:spPr>
          <a:xfrm>
            <a:off x="381000" y="381000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381000" y="381000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uz-Latn-UZ" sz="1800" dirty="0"/>
          </a:p>
        </p:txBody>
      </p:sp>
      <p:sp>
        <p:nvSpPr>
          <p:cNvPr id="20" name="Shape 20"/>
          <p:cNvSpPr/>
          <p:nvPr/>
        </p:nvSpPr>
        <p:spPr>
          <a:xfrm>
            <a:off x="933450" y="381000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Saqlash davridagi kasalliklar va ularga qarshi kurash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381000" y="440055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381000" y="440055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uz-Latn-UZ" sz="1800" dirty="0"/>
          </a:p>
        </p:txBody>
      </p:sp>
      <p:sp>
        <p:nvSpPr>
          <p:cNvPr id="23" name="Shape 23"/>
          <p:cNvSpPr/>
          <p:nvPr/>
        </p:nvSpPr>
        <p:spPr>
          <a:xfrm>
            <a:off x="933450" y="440055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Optimal saqlash rejimlari va saqlashga tayyorlash</a:t>
            </a:r>
            <a:endParaRPr lang="uz-Latn-UZ" sz="1600" dirty="0"/>
          </a:p>
        </p:txBody>
      </p:sp>
      <p:sp>
        <p:nvSpPr>
          <p:cNvPr id="24" name="Shape 24"/>
          <p:cNvSpPr/>
          <p:nvPr/>
        </p:nvSpPr>
        <p:spPr>
          <a:xfrm>
            <a:off x="381000" y="499110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5" name="Shape 25"/>
          <p:cNvSpPr/>
          <p:nvPr/>
        </p:nvSpPr>
        <p:spPr>
          <a:xfrm>
            <a:off x="381000" y="499110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uz-Latn-UZ" sz="1800" dirty="0"/>
          </a:p>
        </p:txBody>
      </p:sp>
      <p:sp>
        <p:nvSpPr>
          <p:cNvPr id="26" name="Shape 26"/>
          <p:cNvSpPr/>
          <p:nvPr/>
        </p:nvSpPr>
        <p:spPr>
          <a:xfrm>
            <a:off x="933450" y="499110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Saqlash usullari: burt, transheya, ombor, kagat</a:t>
            </a:r>
            <a:endParaRPr lang="uz-Latn-UZ" sz="1600" dirty="0"/>
          </a:p>
        </p:txBody>
      </p:sp>
      <p:sp>
        <p:nvSpPr>
          <p:cNvPr id="27" name="Shape 27"/>
          <p:cNvSpPr/>
          <p:nvPr/>
        </p:nvSpPr>
        <p:spPr>
          <a:xfrm>
            <a:off x="381000" y="5581650"/>
            <a:ext cx="438150" cy="43815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8" name="Shape 28"/>
          <p:cNvSpPr/>
          <p:nvPr/>
        </p:nvSpPr>
        <p:spPr>
          <a:xfrm>
            <a:off x="381000" y="5581650"/>
            <a:ext cx="4381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uz-Latn-UZ" sz="1800" dirty="0"/>
          </a:p>
        </p:txBody>
      </p:sp>
      <p:sp>
        <p:nvSpPr>
          <p:cNvPr id="29" name="Shape 29"/>
          <p:cNvSpPr/>
          <p:nvPr/>
        </p:nvSpPr>
        <p:spPr>
          <a:xfrm>
            <a:off x="933450" y="558165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Tabiiy kamayish, nazorat, xulosa va savollar</a:t>
            </a:r>
            <a:endParaRPr lang="uz-Latn-UZ" sz="1600" dirty="0"/>
          </a:p>
        </p:txBody>
      </p:sp>
      <p:sp>
        <p:nvSpPr>
          <p:cNvPr id="30" name="Shape 30"/>
          <p:cNvSpPr/>
          <p:nvPr/>
        </p:nvSpPr>
        <p:spPr>
          <a:xfrm>
            <a:off x="6667500" y="1047750"/>
            <a:ext cx="51435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1" name="Shape 31"/>
          <p:cNvSpPr/>
          <p:nvPr/>
        </p:nvSpPr>
        <p:spPr>
          <a:xfrm>
            <a:off x="6667500" y="1047750"/>
            <a:ext cx="76200" cy="23812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2" name="Shape 32"/>
          <p:cNvSpPr/>
          <p:nvPr/>
        </p:nvSpPr>
        <p:spPr>
          <a:xfrm>
            <a:off x="6838950" y="112395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1E5631"/>
                </a:solidFill>
                <a:latin typeface="Arial"/>
                <a:cs typeface="Arial"/>
              </a:rPr>
              <a:t>Darsning maqsadi</a:t>
            </a:r>
            <a:endParaRPr lang="uz-Latn-UZ" sz="1600" dirty="0"/>
          </a:p>
        </p:txBody>
      </p:sp>
      <p:sp>
        <p:nvSpPr>
          <p:cNvPr id="33" name="Shape 33"/>
          <p:cNvSpPr/>
          <p:nvPr/>
        </p:nvSpPr>
        <p:spPr>
          <a:xfrm>
            <a:off x="6838950" y="1447800"/>
            <a:ext cx="4895850" cy="19240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Ildizmevalilarni saqlash davrida kechadigan jarayonlarning mohiyatini tushuntirish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Mahsulot sifatini saqlab qolish va nobudgarchilikni kamaytirish yoʻllarini oʻrgatish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Burt, transheya, ombor va kagat texnologiyasi bilan tanishtirish</a:t>
            </a:r>
            <a:endParaRPr lang="uz-Latn-UZ" sz="1500" dirty="0"/>
          </a:p>
        </p:txBody>
      </p:sp>
      <p:sp>
        <p:nvSpPr>
          <p:cNvPr id="34" name="Shape 34"/>
          <p:cNvSpPr/>
          <p:nvPr/>
        </p:nvSpPr>
        <p:spPr>
          <a:xfrm>
            <a:off x="6667500" y="3619500"/>
            <a:ext cx="5143500" cy="2762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5" name="Shape 35"/>
          <p:cNvSpPr/>
          <p:nvPr/>
        </p:nvSpPr>
        <p:spPr>
          <a:xfrm>
            <a:off x="6667500" y="3619500"/>
            <a:ext cx="76200" cy="27622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6" name="Shape 36"/>
          <p:cNvSpPr/>
          <p:nvPr/>
        </p:nvSpPr>
        <p:spPr>
          <a:xfrm>
            <a:off x="6838950" y="369570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1" i="0" dirty="0">
                <a:solidFill>
                  <a:srgbClr val="E8772E"/>
                </a:solidFill>
                <a:latin typeface="Arial"/>
                <a:cs typeface="Arial"/>
              </a:rPr>
              <a:t>Kutilayotgan natijalar</a:t>
            </a:r>
            <a:endParaRPr lang="uz-Latn-UZ" sz="1600" dirty="0"/>
          </a:p>
        </p:txBody>
      </p:sp>
      <p:sp>
        <p:nvSpPr>
          <p:cNvPr id="37" name="Shape 37"/>
          <p:cNvSpPr/>
          <p:nvPr/>
        </p:nvSpPr>
        <p:spPr>
          <a:xfrm>
            <a:off x="6838950" y="4019550"/>
            <a:ext cx="4895850" cy="23050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Talaba saqlash rejimlarini (harorat, namlik, havo almashinuvi) asoslab bera oladi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Kasallik belgilarini aniqlab, profilaktika choralarini tanlaydi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Qand lavlagi kagatini shakllantirish va nazorat qilish tartibini biladi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Tabiiy kamayish normalarini hisobga oladi</a:t>
            </a:r>
            <a:endParaRPr lang="uz-Latn-UZ" sz="1500" dirty="0"/>
          </a:p>
        </p:txBody>
      </p:sp>
      <p:sp>
        <p:nvSpPr>
          <p:cNvPr id="38" name="Shape 38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9" name="Shape 39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40" name="Shape 40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</a:t>
            </a:r>
            <a:endParaRPr lang="uz-Latn-UZ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Ildizmevali ekinlar haqida umumiy tushuncha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715000" cy="5334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Ildizmevalilar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— asosiy ildizi yoʻgʻonlashib, zaxira oziq moddalar toʻplaydigan, asosan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ikki yillik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oʻsimliklar.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1-yili ildizmeva va barg rozetkasi, 2-yili gulpoya va urugʻ hosil qiladi — ildizmeva aynan shu zaxira uchun “omborxona”.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Botanik oilalari:</a:t>
            </a:r>
            <a:endParaRPr lang="uz-Latn-UZ" sz="1700" dirty="0"/>
          </a:p>
          <a:p>
            <a:pPr marL="381000" indent="-152400" algn="l">
              <a:spcAft>
                <a:spcPts val="500"/>
              </a:spcAft>
              <a:buClr>
                <a:srgbClr val="E8772E"/>
              </a:buClr>
              <a:buFont typeface="Arial"/>
              <a:buChar char="–"/>
            </a:pPr>
            <a:r>
              <a:rPr lang="uz-Latn-UZ" sz="1500" b="0" i="0" dirty="0">
                <a:solidFill>
                  <a:srgbClr val="455A64"/>
                </a:solidFill>
                <a:latin typeface="Arial"/>
                <a:cs typeface="Arial"/>
              </a:rPr>
              <a:t>Soyabonguldoshlar — sabzi, petrushka, selderey, pasternak</a:t>
            </a:r>
            <a:endParaRPr lang="uz-Latn-UZ" sz="1500" dirty="0"/>
          </a:p>
          <a:p>
            <a:pPr marL="381000" indent="-152400" algn="l">
              <a:spcAft>
                <a:spcPts val="500"/>
              </a:spcAft>
              <a:buClr>
                <a:srgbClr val="E8772E"/>
              </a:buClr>
              <a:buFont typeface="Arial"/>
              <a:buChar char="–"/>
            </a:pPr>
            <a:r>
              <a:rPr lang="uz-Latn-UZ" sz="1500" b="0" i="0" dirty="0">
                <a:solidFill>
                  <a:srgbClr val="455A64"/>
                </a:solidFill>
                <a:latin typeface="Arial"/>
                <a:cs typeface="Arial"/>
              </a:rPr>
              <a:t>Shoʻradoshlar (Amaranthaceae) — xoʻraki va qand lavlagi</a:t>
            </a:r>
            <a:endParaRPr lang="uz-Latn-UZ" sz="1500" dirty="0"/>
          </a:p>
          <a:p>
            <a:pPr marL="381000" indent="-152400" algn="l">
              <a:spcAft>
                <a:spcPts val="500"/>
              </a:spcAft>
              <a:buClr>
                <a:srgbClr val="E8772E"/>
              </a:buClr>
              <a:buFont typeface="Arial"/>
              <a:buChar char="–"/>
            </a:pPr>
            <a:r>
              <a:rPr lang="uz-Latn-UZ" sz="1500" b="0" i="0" dirty="0">
                <a:solidFill>
                  <a:srgbClr val="455A64"/>
                </a:solidFill>
                <a:latin typeface="Arial"/>
                <a:cs typeface="Arial"/>
              </a:rPr>
              <a:t>Karamdoshlar — sholgʻom, turp, rediska, bryukva</a:t>
            </a:r>
            <a:endParaRPr lang="uz-Latn-UZ" sz="15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Qand lavlagi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— qand sanoatining asosiy xomashyosi, tarkibida 16–20 % saxaroza.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Ildizmevalar qishda yangi holda isteʼmol qilinadigan asosiy sabzavotlardan — shu sababli ularni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6–8 oy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sifatli saqlash muhim.</a:t>
            </a:r>
            <a:endParaRPr lang="uz-Latn-UZ" sz="1700" dirty="0"/>
          </a:p>
        </p:txBody>
      </p:sp>
      <p:sp>
        <p:nvSpPr>
          <p:cNvPr id="6" name="Shape 6"/>
          <p:cNvSpPr/>
          <p:nvPr/>
        </p:nvSpPr>
        <p:spPr>
          <a:xfrm>
            <a:off x="6286500" y="1095375"/>
            <a:ext cx="5619750" cy="3571875"/>
          </a:xfrm>
          <a:prstGeom prst="roundRect">
            <a:avLst>
              <a:gd name="adj" fmla="val 8000"/>
            </a:avLst>
          </a:prstGeom>
          <a:solidFill>
            <a:srgbClr val="F4FBF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180359"/>
            <a:ext cx="5467350" cy="3401907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6286500" y="4810125"/>
            <a:ext cx="5619750" cy="1571625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6286500" y="4810125"/>
            <a:ext cx="57150" cy="1571625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438900" y="4810125"/>
            <a:ext cx="5410200" cy="1571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Ildizmevalar hosili kuzda bir vaqtda yigʻiladi, isteʼmol va qayta ishlash esa butun qish-bahor davomida davom etadi. Saqlash texnologiyasining vazifasi — massa va sifat yoʻqotilishini minimal darajaga tushirish.</a:t>
            </a:r>
            <a:endParaRPr lang="uz-Latn-UZ" sz="1500" dirty="0"/>
          </a:p>
        </p:txBody>
      </p:sp>
      <p:sp>
        <p:nvSpPr>
          <p:cNvPr id="11" name="Shape 11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3" name="Shape 13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3</a:t>
            </a:r>
            <a:endParaRPr lang="uz-Latn-UZ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Ildizmevalarning kimyoviy tarkibi (oʻrtacha)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3177327"/>
        </p:xfrm>
        <a:graphic>
          <a:graphicData uri="http://schemas.openxmlformats.org/drawingml/2006/table">
            <a:tbl>
              <a:tblPr firstRow="1" bandRow="1"/>
              <a:tblGrid>
                <a:gridCol w="1809750"/>
                <a:gridCol w="1047750"/>
                <a:gridCol w="1238250"/>
                <a:gridCol w="1333500"/>
                <a:gridCol w="1238250"/>
                <a:gridCol w="1238250"/>
                <a:gridCol w="3524250"/>
              </a:tblGrid>
              <a:tr h="5409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Ekin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Suv,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Quruq modda,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Qandlar,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Kletchatka,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Vitamin C, mg%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Oʻziga xos moddalar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86–89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11–14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6–9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1,0–1,5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5–8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Karotin (provitamin A) 9–20 mg%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Xoʻraki lavlagi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84–88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12–16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8–12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0,8–0,9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8–10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Betanin (qizil pigment), betain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 lavlagi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75–77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23–25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16–20 (saxaroza)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1,0–1,5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Pektin, betain, kaliy va natriy tuzlari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Sholgʻom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89–92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8–11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4–6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1,0–1,4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20–30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Glyukozinolatlar (xantal moylari)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Turp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86–88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12–14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3–6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1,5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20–30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Efir moylari, fitonsidlar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Petrushka (ildizi)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80–85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15–20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6–8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1,5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20–40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Efir moylari, flavonoidlar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4282227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200" b="0" i="1" dirty="0">
                <a:solidFill>
                  <a:srgbClr val="6B7B6E"/>
                </a:solidFill>
                <a:latin typeface="Arial"/>
                <a:cs typeface="Arial"/>
              </a:rPr>
              <a:t>Maʼlumotlar oʻrtacha; nav, tuproq-iqlim sharoiti va agrotexnikaga qarab oʻzgaradi.</a:t>
            </a:r>
            <a:endParaRPr lang="uz-Latn-UZ" sz="1200" dirty="0"/>
          </a:p>
        </p:txBody>
      </p:sp>
      <p:sp>
        <p:nvSpPr>
          <p:cNvPr id="7" name="Shape 7"/>
          <p:cNvSpPr/>
          <p:nvPr/>
        </p:nvSpPr>
        <p:spPr>
          <a:xfrm>
            <a:off x="381000" y="4953000"/>
            <a:ext cx="5619750" cy="14287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4953000"/>
            <a:ext cx="57150" cy="14287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533400" y="4953000"/>
            <a:ext cx="5410200" cy="1428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Quruq modda va qand miqdori yuqori, poʻsti (periderma) qalin boʻlgan ildizmevalar yaxshi saqlanadi. Lavlagi — eng yaxshi saqlanadigan ildizmeva.</a:t>
            </a:r>
            <a:endParaRPr lang="uz-Latn-UZ" sz="1500" dirty="0"/>
          </a:p>
        </p:txBody>
      </p:sp>
      <p:sp>
        <p:nvSpPr>
          <p:cNvPr id="10" name="Shape 10"/>
          <p:cNvSpPr/>
          <p:nvPr/>
        </p:nvSpPr>
        <p:spPr>
          <a:xfrm>
            <a:off x="6191250" y="4953000"/>
            <a:ext cx="5619750" cy="142875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191250" y="4953000"/>
            <a:ext cx="57150" cy="14287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343650" y="4953000"/>
            <a:ext cx="5410200" cy="1428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Suvi koʻp, poʻsti yupqa ildizmevalar (sabzi, petrushka, rediska) tez soʻladi — ular uchun havo namligi 90–95 % boʻlishi shart.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5" name="Shape 1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4</a:t>
            </a:r>
            <a:endParaRPr lang="uz-Latn-UZ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Saqlanuvchanlikka taʼsir etuvchi omillar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3667125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47750"/>
            <a:ext cx="76200" cy="18097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52450" y="1123950"/>
            <a:ext cx="3419475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Nav xususiyatlari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552450" y="1447800"/>
            <a:ext cx="3419475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Kechpishar va oʻrtapishar navlar yaxshi saqlanadi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Ertapishar navlar qisqa muddatli saqlashga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4238625" y="1047750"/>
            <a:ext cx="3667125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4238625" y="1047750"/>
            <a:ext cx="76200" cy="18097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4410075" y="1123950"/>
            <a:ext cx="3419475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Oʻgʻitlash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4410075" y="1447800"/>
            <a:ext cx="3419475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Azot ortiqcha – toʻqima boʻsh, chirishga moyil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Fosfor va kaliy saqlanuvchanlikni oshiradi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8096250" y="1047750"/>
            <a:ext cx="3667125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8096250" y="1047750"/>
            <a:ext cx="76200" cy="180975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8267700" y="1123950"/>
            <a:ext cx="3419475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F6FB2"/>
                </a:solidFill>
                <a:latin typeface="Arial"/>
                <a:cs typeface="Arial"/>
              </a:rPr>
              <a:t>Sugʻorish</a:t>
            </a:r>
            <a:endParaRPr lang="uz-Latn-UZ" sz="1800" dirty="0"/>
          </a:p>
        </p:txBody>
      </p:sp>
      <p:sp>
        <p:nvSpPr>
          <p:cNvPr id="16" name="Shape 16"/>
          <p:cNvSpPr/>
          <p:nvPr/>
        </p:nvSpPr>
        <p:spPr>
          <a:xfrm>
            <a:off x="8267700" y="1447800"/>
            <a:ext cx="3419475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Yigʻimdan 2–3 hafta oldin toʻxtatiladi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Ortiqcha namlik — darz ketish va chirish</a:t>
            </a:r>
            <a:endParaRPr lang="uz-Latn-UZ" sz="1500" dirty="0"/>
          </a:p>
        </p:txBody>
      </p:sp>
      <p:sp>
        <p:nvSpPr>
          <p:cNvPr id="17" name="Shape 17"/>
          <p:cNvSpPr/>
          <p:nvPr/>
        </p:nvSpPr>
        <p:spPr>
          <a:xfrm>
            <a:off x="381000" y="3048000"/>
            <a:ext cx="3667125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381000" y="3048000"/>
            <a:ext cx="76200" cy="180975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552450" y="3124200"/>
            <a:ext cx="3419475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8B1E3F"/>
                </a:solidFill>
                <a:latin typeface="Arial"/>
                <a:cs typeface="Arial"/>
              </a:rPr>
              <a:t>Yigʻim muddati</a:t>
            </a:r>
            <a:endParaRPr lang="uz-Latn-UZ" sz="1800" dirty="0"/>
          </a:p>
        </p:txBody>
      </p:sp>
      <p:sp>
        <p:nvSpPr>
          <p:cNvPr id="20" name="Shape 20"/>
          <p:cNvSpPr/>
          <p:nvPr/>
        </p:nvSpPr>
        <p:spPr>
          <a:xfrm>
            <a:off x="552450" y="3448050"/>
            <a:ext cx="3419475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Toʻliq pishganda, sovuq tushmasdan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Muzlagan ildizmeva saqlashga yaroqsiz</a:t>
            </a:r>
            <a:endParaRPr lang="uz-Latn-UZ" sz="1500" dirty="0"/>
          </a:p>
        </p:txBody>
      </p:sp>
      <p:sp>
        <p:nvSpPr>
          <p:cNvPr id="21" name="Shape 21"/>
          <p:cNvSpPr/>
          <p:nvPr/>
        </p:nvSpPr>
        <p:spPr>
          <a:xfrm>
            <a:off x="4238625" y="3048000"/>
            <a:ext cx="3667125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4238625" y="3048000"/>
            <a:ext cx="76200" cy="180975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4410075" y="3124200"/>
            <a:ext cx="3419475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B7950B"/>
                </a:solidFill>
                <a:latin typeface="Arial"/>
                <a:cs typeface="Arial"/>
              </a:rPr>
              <a:t>Mexanik shikastlanish</a:t>
            </a:r>
            <a:endParaRPr lang="uz-Latn-UZ" sz="1800" dirty="0"/>
          </a:p>
        </p:txBody>
      </p:sp>
      <p:sp>
        <p:nvSpPr>
          <p:cNvPr id="24" name="Shape 24"/>
          <p:cNvSpPr/>
          <p:nvPr/>
        </p:nvSpPr>
        <p:spPr>
          <a:xfrm>
            <a:off x="4410075" y="3448050"/>
            <a:ext cx="3419475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Yaralar — infeksiya kirish yoʻli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Nafas olish va qand sarfi keskin oshadi</a:t>
            </a:r>
            <a:endParaRPr lang="uz-Latn-UZ" sz="1500" dirty="0"/>
          </a:p>
        </p:txBody>
      </p:sp>
      <p:sp>
        <p:nvSpPr>
          <p:cNvPr id="25" name="Shape 25"/>
          <p:cNvSpPr/>
          <p:nvPr/>
        </p:nvSpPr>
        <p:spPr>
          <a:xfrm>
            <a:off x="8096250" y="3048000"/>
            <a:ext cx="3667125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6" name="Shape 26"/>
          <p:cNvSpPr/>
          <p:nvPr/>
        </p:nvSpPr>
        <p:spPr>
          <a:xfrm>
            <a:off x="8096250" y="3048000"/>
            <a:ext cx="76200" cy="180975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7" name="Shape 27"/>
          <p:cNvSpPr/>
          <p:nvPr/>
        </p:nvSpPr>
        <p:spPr>
          <a:xfrm>
            <a:off x="8267700" y="3124200"/>
            <a:ext cx="3419475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5B2C6F"/>
                </a:solidFill>
                <a:latin typeface="Arial"/>
                <a:cs typeface="Arial"/>
              </a:rPr>
              <a:t>Yigʻimdan keyingi muddat</a:t>
            </a:r>
            <a:endParaRPr lang="uz-Latn-UZ" sz="1800" dirty="0"/>
          </a:p>
        </p:txBody>
      </p:sp>
      <p:sp>
        <p:nvSpPr>
          <p:cNvPr id="28" name="Shape 28"/>
          <p:cNvSpPr/>
          <p:nvPr/>
        </p:nvSpPr>
        <p:spPr>
          <a:xfrm>
            <a:off x="8267700" y="3448050"/>
            <a:ext cx="3419475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Dalada uzoq qolsa soʻladi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Imkon qadar 1 sutkada joylanishi kerak</a:t>
            </a:r>
            <a:endParaRPr lang="uz-Latn-UZ" sz="1500" dirty="0"/>
          </a:p>
        </p:txBody>
      </p:sp>
      <p:sp>
        <p:nvSpPr>
          <p:cNvPr id="29" name="Shape 29"/>
          <p:cNvSpPr/>
          <p:nvPr/>
        </p:nvSpPr>
        <p:spPr>
          <a:xfrm>
            <a:off x="381000" y="5143500"/>
            <a:ext cx="11430000" cy="1190625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0" name="Shape 30"/>
          <p:cNvSpPr/>
          <p:nvPr/>
        </p:nvSpPr>
        <p:spPr>
          <a:xfrm>
            <a:off x="381000" y="5143500"/>
            <a:ext cx="57150" cy="1190625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1" name="Shape 31"/>
          <p:cNvSpPr/>
          <p:nvPr/>
        </p:nvSpPr>
        <p:spPr>
          <a:xfrm>
            <a:off x="533400" y="5143500"/>
            <a:ext cx="11220450" cy="1190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Saqlanuvchanlik — mahsulotning maʼlum sharoitda sifat va massasini kam yoʻqotgan holda uzoq muddat saqlanish qobiliyati. U dalada (yetishtirish davrida) shakllanadi, omborda esa faqat saqlab turiladi.</a:t>
            </a:r>
            <a:endParaRPr lang="uz-Latn-UZ" sz="1600" dirty="0"/>
          </a:p>
        </p:txBody>
      </p:sp>
      <p:sp>
        <p:nvSpPr>
          <p:cNvPr id="32" name="Shape 32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3" name="Shape 33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34" name="Shape 34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5</a:t>
            </a:r>
            <a:endParaRPr lang="uz-Latn-UZ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Tinim davri va saqlash davridagi jarayonlar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Ildizmevalarda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chuqur (tabiiy) tinim davri yoʻq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— ular faqat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majburiy tinimda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boʻladi: oʻsish past harorat taʼsirida toʻxtaydi.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Harorat </a:t>
            </a: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+4…+5 °C</a:t>
            </a: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 dan oshsa, kurtaklar uygʻonadi, barg va mayda ildizchalar oʻsib chiqadi — qand va suv sarflanadi.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Ildizmeva — tirik organizm: saqlash davrida nafas oladi, suv bugʻlatadi, issiqlik ajratadi.</a:t>
            </a:r>
            <a:endParaRPr lang="uz-Latn-UZ" sz="17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Yuzasi katta, poʻkak qatlami yupqa — suvni tez yoʻqotadi.</a:t>
            </a:r>
            <a:endParaRPr lang="uz-Latn-UZ" sz="1700" dirty="0"/>
          </a:p>
        </p:txBody>
      </p:sp>
      <p:sp>
        <p:nvSpPr>
          <p:cNvPr id="6" name="Shape 6"/>
          <p:cNvSpPr/>
          <p:nvPr/>
        </p:nvSpPr>
        <p:spPr>
          <a:xfrm>
            <a:off x="381000" y="5191125"/>
            <a:ext cx="5334000" cy="1190625"/>
          </a:xfrm>
          <a:prstGeom prst="roundRect">
            <a:avLst>
              <a:gd name="adj" fmla="val 8000"/>
            </a:avLst>
          </a:prstGeom>
          <a:solidFill>
            <a:srgbClr val="FDF1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191125"/>
            <a:ext cx="57150" cy="1190625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191125"/>
            <a:ext cx="5124450" cy="1190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Xulosa: ildizmevalarni past haroratda (0…+1 °C) va yuqori namlikda (90–95 %) saqlash — jarayonlarni sekinlashtirishning asosiy yoʻli.</a:t>
            </a:r>
            <a:endParaRPr lang="uz-Latn-UZ" sz="15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503947"/>
            <a:ext cx="6000750" cy="4421605"/>
          </a:xfrm>
          <a:prstGeom prst="rect">
            <a:avLst/>
          </a:prstGeom>
        </p:spPr>
      </p:pic>
      <p:sp>
        <p:nvSpPr>
          <p:cNvPr id="10" name="Shape 10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2" name="Shape 12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6</a:t>
            </a:r>
            <a:endParaRPr lang="uz-Latn-UZ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1. Nafas olish — asosiy fiziologik jarayon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715000" cy="66675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47750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2200" b="1" i="0" dirty="0">
                <a:solidFill>
                  <a:srgbClr val="1E5631"/>
                </a:solidFill>
                <a:latin typeface="Arial"/>
                <a:cs typeface="Arial"/>
              </a:rPr>
              <a:t>C₆H₁₂O₆ + 6O₂ = 6CO₂ + 6H₂O + 2824 kJ</a:t>
            </a:r>
            <a:endParaRPr lang="uz-Latn-UZ" sz="2200" dirty="0"/>
          </a:p>
        </p:txBody>
      </p:sp>
      <p:sp>
        <p:nvSpPr>
          <p:cNvPr id="7" name="Shape 7"/>
          <p:cNvSpPr/>
          <p:nvPr/>
        </p:nvSpPr>
        <p:spPr>
          <a:xfrm>
            <a:off x="381000" y="1857375"/>
            <a:ext cx="5715000" cy="3619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Nafas olishda zaxira qandlar sarflanadi –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quruq modda va massa kamayadi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Ajralgan issiqlik uyum ichida toʻplanib,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oʻz-oʻzidan qizish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va chirish oʻchoqlarini keltirib chiqaradi.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Harorat har 10 °C ga oshganda nafas olish jadalligi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2–3 marta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ortadi.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Kislorod yetishmasa (zich uyum, shamollatish yoʻq) —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anaerob nafas olish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: spirt, sirka kislota toʻplanadi, toʻqima nobud boʻladi.</a:t>
            </a:r>
            <a:endParaRPr lang="uz-Latn-UZ" sz="1600" dirty="0"/>
          </a:p>
          <a:p>
            <a:pPr marL="171450" indent="-152400" algn="l">
              <a:spcAft>
                <a:spcPts val="6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Shikastlangan va soʻlgan ildizmevalarda nafas olish 1,5–2 marta tezroq.</a:t>
            </a:r>
            <a:endParaRPr lang="uz-Latn-UZ" sz="16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092729"/>
            <a:ext cx="5524500" cy="3529542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6286500" y="4810125"/>
            <a:ext cx="5524500" cy="1571625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286500" y="4810125"/>
            <a:ext cx="57150" cy="1571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438900" y="4810125"/>
            <a:ext cx="5314950" cy="1571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Amaliy xulosa: hosilni tezda sovutish va uyumni muntazam shamollatish (CO₂ va issiqlikni chiqarish) nafas olishga sarflanadigan yoʻqotishlarni bir necha barobar kamaytiradi.</a:t>
            </a:r>
            <a:endParaRPr lang="uz-Latn-UZ" sz="1500" dirty="0"/>
          </a:p>
        </p:txBody>
      </p:sp>
      <p:sp>
        <p:nvSpPr>
          <p:cNvPr id="12" name="Shape 12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3" name="Shape 13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4" name="Shape 14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7</a:t>
            </a:r>
            <a:endParaRPr lang="uz-Latn-UZ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Suv bugʻlanishi, yaralarning bitishi va boshqa jarayonlar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6197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47750"/>
            <a:ext cx="76200" cy="28575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52450" y="1123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F6FB2"/>
                </a:solidFill>
                <a:latin typeface="Arial"/>
                <a:cs typeface="Arial"/>
              </a:rPr>
              <a:t>2. Suv bugʻlanishi (transpiratsiya)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552450" y="1447800"/>
            <a:ext cx="5372100" cy="2400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Havo namligi past boʻlsa, ildizmeva suvni tez yoʻqotadi — </a:t>
            </a: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soʻlish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 boshlanadi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Massaning 5–7 % i yoʻqolganda tovar koʻrinishi buziladi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Soʻlgan toʻqimada gidrolitik fermentlar faollashadi, kasallikka chidamlilik pasayadi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Choralar: φ = 90–95 %, uyumni yopish, namlangan havo bilan shamollatish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6191250" y="1047750"/>
            <a:ext cx="56197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191250" y="1047750"/>
            <a:ext cx="76200" cy="28575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362700" y="1123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3. Yaralarning bitishi (davolash davri)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6362700" y="1447800"/>
            <a:ext cx="5372100" cy="2400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Yigʻim va tashishda olingan yaralar yuzasida </a:t>
            </a: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suberin va yara peridermasi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 hosil boʻladi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Qulay sharoit: </a:t>
            </a: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+12…+16 °C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, φ 90–95 %, kislorod yetarli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Davomiyligi 8–12 kun; keyin harorat asta-sekin pasaytiriladi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Bitmagan yara — mikroorganizmlar uchun “ochiq eshik”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381000" y="4095750"/>
            <a:ext cx="5619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4095750"/>
            <a:ext cx="76200" cy="228600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552450" y="4171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5B2C6F"/>
                </a:solidFill>
                <a:latin typeface="Arial"/>
                <a:cs typeface="Arial"/>
              </a:rPr>
              <a:t>4. Unib chiqish</a:t>
            </a:r>
            <a:endParaRPr lang="uz-Latn-UZ" sz="1800" dirty="0"/>
          </a:p>
        </p:txBody>
      </p:sp>
      <p:sp>
        <p:nvSpPr>
          <p:cNvPr id="16" name="Shape 16"/>
          <p:cNvSpPr/>
          <p:nvPr/>
        </p:nvSpPr>
        <p:spPr>
          <a:xfrm>
            <a:off x="552450" y="4495800"/>
            <a:ext cx="537210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+4…+5 °C dan yuqorida kurtaklar uygʻonadi (ayniqsa bahorda)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Barg va ildizchalar oʻsishiga qand, suv sarflanadi; toʻqima dagʻallashadi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Choralar: 0…+1 °C, bahorda sovuq tungi havo bilan shamollatish</a:t>
            </a:r>
            <a:endParaRPr lang="uz-Latn-UZ" sz="1500" dirty="0"/>
          </a:p>
        </p:txBody>
      </p:sp>
      <p:sp>
        <p:nvSpPr>
          <p:cNvPr id="17" name="Shape 17"/>
          <p:cNvSpPr/>
          <p:nvPr/>
        </p:nvSpPr>
        <p:spPr>
          <a:xfrm>
            <a:off x="6191250" y="4095750"/>
            <a:ext cx="5619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6191250" y="4095750"/>
            <a:ext cx="76200" cy="22860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6362700" y="4171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8B1E3F"/>
                </a:solidFill>
                <a:latin typeface="Arial"/>
                <a:cs typeface="Arial"/>
              </a:rPr>
              <a:t>5. Biokimyoviy oʻzgarishlar</a:t>
            </a:r>
            <a:endParaRPr lang="uz-Latn-UZ" sz="1800" dirty="0"/>
          </a:p>
        </p:txBody>
      </p:sp>
      <p:sp>
        <p:nvSpPr>
          <p:cNvPr id="20" name="Shape 20"/>
          <p:cNvSpPr/>
          <p:nvPr/>
        </p:nvSpPr>
        <p:spPr>
          <a:xfrm>
            <a:off x="6362700" y="4495800"/>
            <a:ext cx="537210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Saxaroza gidrolizlanib, </a:t>
            </a: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invert qand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 (glyukoza + fruktoza) toʻplanadi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Past haroratda lavlagida </a:t>
            </a: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raffinoza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 miqdori ortadi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Pektin moddalar oʻzgaradi — toʻqima yumshaydi</a:t>
            </a:r>
            <a:endParaRPr lang="uz-Latn-UZ" sz="1500" dirty="0"/>
          </a:p>
        </p:txBody>
      </p:sp>
      <p:sp>
        <p:nvSpPr>
          <p:cNvPr id="21" name="Shape 21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23" name="Shape 23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8</a:t>
            </a:r>
            <a:endParaRPr lang="uz-Latn-UZ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Saqlash davridagi jarayonlar: umumlashtiruvchi jadval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5029200"/>
        </p:xfrm>
        <a:graphic>
          <a:graphicData uri="http://schemas.openxmlformats.org/drawingml/2006/table">
            <a:tbl>
              <a:tblPr firstRow="1" bandRow="1"/>
              <a:tblGrid>
                <a:gridCol w="1809750"/>
                <a:gridCol w="3143250"/>
                <a:gridCol w="3143250"/>
                <a:gridCol w="3333750"/>
              </a:tblGrid>
              <a:tr h="628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Jarayon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Mohiyati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Oqibati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Boshqarish usuli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Nafas olish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Qandlarning CO₂ va H₂O gacha oksidlanishi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Quruq modda, massa kamayadi; issiqlik ajraladi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Tez sovutish, 0…+1 °C, faol shamollatish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Transpiratsiya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Toʻqimadan suvning bugʻlanishi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Soʻlish, tovar sifati pasayishi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Namlik 90–95 %, uyumni qoplash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Davolanish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Yaralarda himoya poʻkak qatlami hosil boʻlishi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Infeksiyaga chidamlilik ortadi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+12…+16 °C, 8–12 kun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Unib chiqish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Kurtaklarning uygʻonishi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 sarfi, sifat pasayishi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Haroratni +4 °C dan oshirmaslik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Gidroliz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Saxarozaning invert qandga parchalanishi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 lavlagining texnologik sifati pasayadi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Past harorat, sogʻlom ildizmeva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Mikrobiologik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Zamburugʻ va bakteriyalar rivoji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Chirish, “kagat chirishi”, oʻchoqli qizish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Saralash, dezinfeksiya, ohak suti, nazorat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Muzlash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Hujayra shirasining muzlashi (−1…−2 °C)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Erigandan soʻng tez chiriydi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Haroratni 0 °C dan pasaytirmaslik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8" name="Shape 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9</a:t>
            </a:r>
            <a:endParaRPr lang="uz-Latn-UZ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Qand lavlagini saqlash davridagi oʻzgarishlar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Saqlash davrida saxaroza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nafas olishga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sarflanadi va qisman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invert qandga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aylanadi.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Sogʻlom lavlagida yoʻqotish sutkasiga lavlagi massasining taxminan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0,01–0,02 %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ini tashkil etadi.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Soʻlgan, shikastlangan, muzlab-erigan va chirigan lavlagida yoʻqotish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3–10 barobar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 ortadi.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Invert qand, kolloid va azotli moddalar koʻpayadi – </a:t>
            </a:r>
            <a:r>
              <a:rPr lang="uz-Latn-UZ" sz="1600" b="1" i="0" dirty="0">
                <a:solidFill>
                  <a:srgbClr val="263238"/>
                </a:solidFill>
                <a:latin typeface="Arial"/>
                <a:cs typeface="Arial"/>
              </a:rPr>
              <a:t>shira tozaligi pasayadi</a:t>
            </a: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, melassa chiqishi ortadi.</a:t>
            </a:r>
            <a:endParaRPr lang="uz-Latn-UZ" sz="1600" dirty="0"/>
          </a:p>
          <a:p>
            <a:pPr marL="171450" indent="-152400" algn="l">
              <a:spcAft>
                <a:spcPts val="7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Natijada zavodda qand chiqishi kamayadi, ishlab chiqarish xarajati oshadi.</a:t>
            </a:r>
            <a:endParaRPr lang="uz-Latn-UZ" sz="1600" dirty="0"/>
          </a:p>
        </p:txBody>
      </p:sp>
      <p:sp>
        <p:nvSpPr>
          <p:cNvPr id="6" name="Shape 6"/>
          <p:cNvSpPr/>
          <p:nvPr/>
        </p:nvSpPr>
        <p:spPr>
          <a:xfrm>
            <a:off x="381000" y="5191125"/>
            <a:ext cx="5334000" cy="1190625"/>
          </a:xfrm>
          <a:prstGeom prst="roundRect">
            <a:avLst>
              <a:gd name="adj" fmla="val 8000"/>
            </a:avLst>
          </a:prstGeom>
          <a:solidFill>
            <a:srgbClr val="FDF1F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191125"/>
            <a:ext cx="57150" cy="1190625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191125"/>
            <a:ext cx="5124450" cy="11906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Shuning uchun zavodga birinchi navbatda sifati past (shikastlangan, soʻlgan) lavlagi, keyin uzoq saqlashga yaroqli sogʻlom lavlagi yuboriladi.</a:t>
            </a:r>
            <a:endParaRPr lang="uz-Latn-UZ" sz="15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230312"/>
            <a:ext cx="5905500" cy="3444875"/>
          </a:xfrm>
          <a:prstGeom prst="rect">
            <a:avLst/>
          </a:prstGeom>
        </p:spPr>
      </p:pic>
      <p:sp>
        <p:nvSpPr>
          <p:cNvPr id="10" name="Shape 10"/>
          <p:cNvSpPr/>
          <p:nvPr/>
        </p:nvSpPr>
        <p:spPr>
          <a:xfrm>
            <a:off x="5905500" y="4905375"/>
            <a:ext cx="5905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uz-Latn-UZ" sz="1500" b="1" i="0" dirty="0">
                <a:solidFill>
                  <a:srgbClr val="1E5631"/>
                </a:solidFill>
                <a:latin typeface="Arial"/>
                <a:cs typeface="Arial"/>
              </a:rPr>
              <a:t>Saxaroza yoʻqotilishiga taʼsir etuvchi asosiy omillar:</a:t>
            </a:r>
            <a:endParaRPr lang="uz-Latn-UZ" sz="1500" dirty="0"/>
          </a:p>
          <a:p>
            <a:pPr algn="l">
              <a:spcAft>
                <a:spcPts val="6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harorat (+1…+3 °C maqbul) • ildizmevaning shikastlanishi • soʻlish • ifloslik (tuproq, barg qoldiqlari) • kasalliklar • saqlash muddati</a:t>
            </a:r>
            <a:endParaRPr lang="uz-Latn-UZ" sz="1400" dirty="0"/>
          </a:p>
        </p:txBody>
      </p:sp>
      <p:sp>
        <p:nvSpPr>
          <p:cNvPr id="11" name="Shape 11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3" name="Shape 13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10</a:t>
            </a:r>
            <a:endParaRPr lang="uz-Latn-UZ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Saqlash davridagi asosiy kasalliklar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00125"/>
          <a:ext cx="11430000" cy="5334000"/>
        </p:xfrm>
        <a:graphic>
          <a:graphicData uri="http://schemas.openxmlformats.org/drawingml/2006/table">
            <a:tbl>
              <a:tblPr firstRow="1" bandRow="1"/>
              <a:tblGrid>
                <a:gridCol w="1905000"/>
                <a:gridCol w="2333625"/>
                <a:gridCol w="3857625"/>
                <a:gridCol w="3333750"/>
              </a:tblGrid>
              <a:tr h="76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Kasallik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Qoʻzgʻatuvchisi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Belgilari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Kurash choralari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Kagat chirishi (qand lavlagi)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Botrytis cinerea, Fusarium spp., Penicillium spp., Phoma betae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Toʻqima yumshaydi, ustida kulrang, oq, koʻkimtir magʻor; kagatda oʻchoqli qizish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Shikastsiz yigʻish, tez sovutish, ohak suti bilan ishlov, kasallarni ajratish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Fomoz (quruq chirish)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Phoma betae (lavlagi), Phoma rostrupii (sabzi)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Qoʻngʻir-qora botiq dogʻlar, toʻqima quruq chiriydi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Sogʻlom urugʻ, almashlab ekish, past harorat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Oq chirish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Sclerotinia sclerotiorum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Oq paxtasimon mitseliy, qora sklerotsiyalar, toʻqima yumshaydi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 °C, boʻr bilan changlash, omborni dezinfeksiya qilish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Kulrang chirish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Botrytis cinerea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Kulrang momiq magʻor, hoʻl chirish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Shikastlanish va soʻlishga yoʻl qoʻymaslik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Qora chirish (alternarioz)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Alternaria radicina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Qora, biroz botiq dogʻlar; kesimda qora toʻqima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Urugʻni dorilash, saralash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Hoʻl bakterial chirish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Pectobacterium carotovorum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Shilimshiq, yoqimsiz hidli hoʻl chirish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Muzlatmaslik, kondensatga yoʻl qoʻymaslik, shamollatish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8" name="Shape 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11</a:t>
            </a:r>
            <a:endParaRPr lang="uz-Latn-UZ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Kasalliklarga qarshi kurash va profilaktika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61975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47750"/>
            <a:ext cx="76200" cy="1952625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52450" y="1123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900" b="1" i="0" dirty="0">
                <a:solidFill>
                  <a:srgbClr val="1E5631"/>
                </a:solidFill>
                <a:latin typeface="Arial"/>
                <a:cs typeface="Arial"/>
              </a:rPr>
              <a:t>Dalada</a:t>
            </a:r>
            <a:endParaRPr lang="uz-Latn-UZ" sz="1900" dirty="0"/>
          </a:p>
        </p:txBody>
      </p:sp>
      <p:sp>
        <p:nvSpPr>
          <p:cNvPr id="8" name="Shape 8"/>
          <p:cNvSpPr/>
          <p:nvPr/>
        </p:nvSpPr>
        <p:spPr>
          <a:xfrm>
            <a:off x="552450" y="1447800"/>
            <a:ext cx="5372100" cy="14954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Almashlab ekish, sogʻlom urugʻ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Muvozanatli oʻgʻitlash (N:P:K)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Oʻz vaqtida, quruq havoda yigʻim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6191250" y="1047750"/>
            <a:ext cx="561975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191250" y="1047750"/>
            <a:ext cx="76200" cy="1952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362700" y="11239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900" b="1" i="0" dirty="0">
                <a:solidFill>
                  <a:srgbClr val="E8772E"/>
                </a:solidFill>
                <a:latin typeface="Arial"/>
                <a:cs typeface="Arial"/>
              </a:rPr>
              <a:t>Joylashdan oldin</a:t>
            </a:r>
            <a:endParaRPr lang="uz-Latn-UZ" sz="1900" dirty="0"/>
          </a:p>
        </p:txBody>
      </p:sp>
      <p:sp>
        <p:nvSpPr>
          <p:cNvPr id="12" name="Shape 12"/>
          <p:cNvSpPr/>
          <p:nvPr/>
        </p:nvSpPr>
        <p:spPr>
          <a:xfrm>
            <a:off x="6362700" y="1447800"/>
            <a:ext cx="5372100" cy="14954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Kasal, shikastli, mayda ildizmevalarni ajratish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Tuproq va barg qoldiqlaridan tozalash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Omborni oqlash, dezinfeksiya qilish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3190875"/>
            <a:ext cx="561975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3190875"/>
            <a:ext cx="76200" cy="1952625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552450" y="3267075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900" b="1" i="0" dirty="0">
                <a:solidFill>
                  <a:srgbClr val="1F6FB2"/>
                </a:solidFill>
                <a:latin typeface="Arial"/>
                <a:cs typeface="Arial"/>
              </a:rPr>
              <a:t>Saqlash davrida</a:t>
            </a:r>
            <a:endParaRPr lang="uz-Latn-UZ" sz="1900" dirty="0"/>
          </a:p>
        </p:txBody>
      </p:sp>
      <p:sp>
        <p:nvSpPr>
          <p:cNvPr id="16" name="Shape 16"/>
          <p:cNvSpPr/>
          <p:nvPr/>
        </p:nvSpPr>
        <p:spPr>
          <a:xfrm>
            <a:off x="552450" y="3590925"/>
            <a:ext cx="5372100" cy="14954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Davolash – sovutish – asosiy rejimga oʻtish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Harorat va namlikni kuniga nazorat qilish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Chirish oʻchoqlarini tez bartaraf etish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6191250" y="3190875"/>
            <a:ext cx="5619750" cy="1952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6191250" y="3190875"/>
            <a:ext cx="76200" cy="1952625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6362700" y="3267075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900" b="1" i="0" dirty="0">
                <a:solidFill>
                  <a:srgbClr val="8B1E3F"/>
                </a:solidFill>
                <a:latin typeface="Arial"/>
                <a:cs typeface="Arial"/>
              </a:rPr>
              <a:t>Qoʻshimcha usullar</a:t>
            </a:r>
            <a:endParaRPr lang="uz-Latn-UZ" sz="1900" dirty="0"/>
          </a:p>
        </p:txBody>
      </p:sp>
      <p:sp>
        <p:nvSpPr>
          <p:cNvPr id="20" name="Shape 20"/>
          <p:cNvSpPr/>
          <p:nvPr/>
        </p:nvSpPr>
        <p:spPr>
          <a:xfrm>
            <a:off x="6362700" y="3590925"/>
            <a:ext cx="5372100" cy="149542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Sabzini qum yoki boʻr bilan qatlamlash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Loy qorishmasiga botirish</a:t>
            </a:r>
            <a:endParaRPr lang="uz-Latn-UZ" sz="16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Qand lavlagini ohak suti bilan ishlash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381000" y="5429250"/>
            <a:ext cx="11430000" cy="952500"/>
          </a:xfrm>
          <a:prstGeom prst="roundRect">
            <a:avLst>
              <a:gd name="adj" fmla="val 8000"/>
            </a:avLst>
          </a:prstGeom>
          <a:solidFill>
            <a:srgbClr val="EEF6E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381000" y="5429250"/>
            <a:ext cx="57150" cy="9525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533400" y="5429250"/>
            <a:ext cx="11220450" cy="952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Kasalliklarning aksariyati dalada yuqadi, omborda esa rivojlanadi. Shu sababli eng samarali kurash — profilaktika va shikastsiz texnologiya.</a:t>
            </a:r>
            <a:endParaRPr lang="uz-Latn-UZ" sz="1600" dirty="0"/>
          </a:p>
        </p:txBody>
      </p:sp>
      <p:sp>
        <p:nvSpPr>
          <p:cNvPr id="24" name="Shape 24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5" name="Shape 25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26" name="Shape 26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12</a:t>
            </a:r>
            <a:endParaRPr lang="uz-Latn-UZ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Ildizmevalarni saqlashning optimal rejimlari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3596427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1619250"/>
                <a:gridCol w="1619250"/>
                <a:gridCol w="1809750"/>
                <a:gridCol w="4095750"/>
              </a:tblGrid>
              <a:tr h="419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Ekin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Harorat, °C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Nisbiy namlik,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Saqlash muddati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Izoh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6–8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Muzlash nuqtasi taxminan −1,2 °C; tez soʻladi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Xoʻraki lavlagi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6–8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Eng yaxshi saqlanadigan ildizmeva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 lavlagi (kagatda)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+1…+3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1–5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Zavod ishlash mavsumiga qarab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Sholgʻom, bryukva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4–6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Uyumda yaxshi saqlanadi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Turp (qishki)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4–6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Yozgi navlari qisqa saqlanadi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Petrushka, selderey (ildizi)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3–5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Qum bilan qatlamlab saqlash maqbul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Rediska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3–4 hafta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Bargsiz, polietilen qoplarda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4834677"/>
            <a:ext cx="11430000" cy="85725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4834677"/>
            <a:ext cx="57150" cy="85725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4834677"/>
            <a:ext cx="11220450" cy="857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Havo almashinuvi: aktiv shamollatishda sabzi va lavlagi uchun 50–70 m³/(t·soat), qand lavlagi kagatlari uchun 30–50 m³/(t·soat). Uzatiladigan havo harorati −1 °C dan past boʻlmasligi kerak.</a:t>
            </a:r>
            <a:endParaRPr lang="uz-Latn-UZ" sz="1500" dirty="0"/>
          </a:p>
        </p:txBody>
      </p:sp>
      <p:sp>
        <p:nvSpPr>
          <p:cNvPr id="9" name="Shape 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1" name="Shape 1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13</a:t>
            </a:r>
            <a:endParaRPr lang="uz-Latn-UZ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Ildizmevalarni saqlashga tayyorlash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00125"/>
            <a:ext cx="11430000" cy="200025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81000" y="3190875"/>
            <a:ext cx="3714750" cy="3190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3190875"/>
            <a:ext cx="76200" cy="3190875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52450" y="3267075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Yigʻim</a:t>
            </a:r>
            <a:endParaRPr lang="uz-Latn-UZ" sz="1800" dirty="0"/>
          </a:p>
        </p:txBody>
      </p:sp>
      <p:sp>
        <p:nvSpPr>
          <p:cNvPr id="9" name="Shape 9"/>
          <p:cNvSpPr/>
          <p:nvPr/>
        </p:nvSpPr>
        <p:spPr>
          <a:xfrm>
            <a:off x="552450" y="3590925"/>
            <a:ext cx="3467100" cy="273367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Sabzi — sentyabr oxiri–oktyabr, lavlagi sovuq tushishidan oldin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Quruq havoda, kombayn yoki qazgich bilan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Ildizmevani urib, tashlab yubormaslik</a:t>
            </a:r>
            <a:endParaRPr lang="uz-Latn-UZ" sz="1500" dirty="0"/>
          </a:p>
        </p:txBody>
      </p:sp>
      <p:sp>
        <p:nvSpPr>
          <p:cNvPr id="10" name="Shape 10"/>
          <p:cNvSpPr/>
          <p:nvPr/>
        </p:nvSpPr>
        <p:spPr>
          <a:xfrm>
            <a:off x="4238625" y="3190875"/>
            <a:ext cx="3714750" cy="3190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4238625" y="3190875"/>
            <a:ext cx="76200" cy="319087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4410075" y="3267075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E8772E"/>
                </a:solidFill>
                <a:latin typeface="Arial"/>
                <a:cs typeface="Arial"/>
              </a:rPr>
              <a:t>Barg kesish va tozalash</a:t>
            </a:r>
            <a:endParaRPr lang="uz-Latn-UZ" sz="1800" dirty="0"/>
          </a:p>
        </p:txBody>
      </p:sp>
      <p:sp>
        <p:nvSpPr>
          <p:cNvPr id="13" name="Shape 13"/>
          <p:cNvSpPr/>
          <p:nvPr/>
        </p:nvSpPr>
        <p:spPr>
          <a:xfrm>
            <a:off x="4410075" y="3590925"/>
            <a:ext cx="3467100" cy="273367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Sabzi bargi 0,5–1 sm, lavlagi bargi 1–2 sm qoldirib kesiladi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Ildiz uchini va yon ildizchalarni yulmaslik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Tuproqni qoʻlda yoki mexanik tozalash (yuvmasdan)</a:t>
            </a:r>
            <a:endParaRPr lang="uz-Latn-UZ" sz="1500" dirty="0"/>
          </a:p>
        </p:txBody>
      </p:sp>
      <p:sp>
        <p:nvSpPr>
          <p:cNvPr id="14" name="Shape 14"/>
          <p:cNvSpPr/>
          <p:nvPr/>
        </p:nvSpPr>
        <p:spPr>
          <a:xfrm>
            <a:off x="8096250" y="3190875"/>
            <a:ext cx="3714750" cy="3190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8096250" y="3190875"/>
            <a:ext cx="76200" cy="3190875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8267700" y="3267075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8B1E3F"/>
                </a:solidFill>
                <a:latin typeface="Arial"/>
                <a:cs typeface="Arial"/>
              </a:rPr>
              <a:t>Saralash va joylash</a:t>
            </a:r>
            <a:endParaRPr lang="uz-Latn-UZ" sz="1800" dirty="0"/>
          </a:p>
        </p:txBody>
      </p:sp>
      <p:sp>
        <p:nvSpPr>
          <p:cNvPr id="17" name="Shape 17"/>
          <p:cNvSpPr/>
          <p:nvPr/>
        </p:nvSpPr>
        <p:spPr>
          <a:xfrm>
            <a:off x="8267700" y="3590925"/>
            <a:ext cx="3467100" cy="2733675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Kasal, shikastli, darz ketgan, mayda ildizmevalar ajratiladi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Yigʻimdan keyin 1 sutka ichida omborga joylanadi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Avval davolash, soʻng sovutish rejimi</a:t>
            </a:r>
            <a:endParaRPr lang="uz-Latn-UZ" sz="1500" dirty="0"/>
          </a:p>
        </p:txBody>
      </p:sp>
      <p:sp>
        <p:nvSpPr>
          <p:cNvPr id="18" name="Shape 18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20" name="Shape 20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14</a:t>
            </a:r>
            <a:endParaRPr lang="uz-Latn-UZ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Ildizmevalarni saqlash usullari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5200650"/>
        </p:xfrm>
        <a:graphic>
          <a:graphicData uri="http://schemas.openxmlformats.org/drawingml/2006/table">
            <a:tbl>
              <a:tblPr firstRow="1" bandRow="1"/>
              <a:tblGrid>
                <a:gridCol w="2190750"/>
                <a:gridCol w="3143250"/>
                <a:gridCol w="2952750"/>
                <a:gridCol w="3143250"/>
              </a:tblGrid>
              <a:tr h="7429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Usul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Mohiyati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Afzalligi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Kamchiligi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Burt (dalada)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Yer ustida uyib, somon va tuproq bilan yopiladi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Kapital xarajat kam, arzon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Nazorat qiyin, nobudgarchilik koʻp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Transheya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Xandaqqa qatlamlab joylab, tuproq bilan koʻmiladi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Harorat barqaror, sabzi uchun qulay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Sizot suvi yaqin joyda yaroqsiz, mehnat koʻp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Tabiiy shamollatiladigan ombor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Uyum, konteyner yoki qutilarda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Joylash va olish qulay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Rejimni boshqarish chegaralangan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Aktiv shamollatiladigan ombor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Uyum 2–3,5 m; pol osti kanallari, ventilyator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Mexanizatsiya, rejim boshqariladi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Elektr energiyasi sarfi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Sunʼiy sovutiladigan ombor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Sovutish qurilmasi bilan aniq rejim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Nobudgarchilik eng kam, uzoq muddat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Qurilish va ishlatish qimmat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Kagat (qand lavlagi)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Zavod yonidagi maydonda katta uyum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Katta hajm, zavodni uzluksiz taʼminlash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Ob-havoga bogʻliq, qand yoʻqotilishi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8" name="Shape 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15</a:t>
            </a:r>
            <a:endParaRPr lang="uz-Latn-UZ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Dalada saqlash: burt va transheya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00125"/>
            <a:ext cx="5619750" cy="3524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38238"/>
            <a:ext cx="5429250" cy="3000375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381000" y="4191000"/>
            <a:ext cx="5619750" cy="285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400" b="1" i="0" dirty="0">
                <a:solidFill>
                  <a:srgbClr val="1E5631"/>
                </a:solidFill>
                <a:latin typeface="Arial"/>
                <a:cs typeface="Arial"/>
              </a:rPr>
              <a:t>1-rasm. Burtning koʻndalang kesimi</a:t>
            </a:r>
            <a:endParaRPr lang="uz-Latn-UZ" sz="1400" dirty="0"/>
          </a:p>
        </p:txBody>
      </p:sp>
      <p:sp>
        <p:nvSpPr>
          <p:cNvPr id="8" name="Shape 8"/>
          <p:cNvSpPr/>
          <p:nvPr/>
        </p:nvSpPr>
        <p:spPr>
          <a:xfrm>
            <a:off x="6191250" y="1000125"/>
            <a:ext cx="5619750" cy="3524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138238"/>
            <a:ext cx="5429250" cy="3000375"/>
          </a:xfrm>
          <a:prstGeom prst="rect">
            <a:avLst/>
          </a:prstGeom>
        </p:spPr>
      </p:pic>
      <p:sp>
        <p:nvSpPr>
          <p:cNvPr id="10" name="Shape 10"/>
          <p:cNvSpPr/>
          <p:nvPr/>
        </p:nvSpPr>
        <p:spPr>
          <a:xfrm>
            <a:off x="6191250" y="4191000"/>
            <a:ext cx="5619750" cy="285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400" b="1" i="0" dirty="0">
                <a:solidFill>
                  <a:srgbClr val="1E5631"/>
                </a:solidFill>
                <a:latin typeface="Arial"/>
                <a:cs typeface="Arial"/>
              </a:rPr>
              <a:t>2-rasm. Transheyaning koʻndalang kesimi</a:t>
            </a:r>
            <a:endParaRPr lang="uz-Latn-UZ" sz="1400" dirty="0"/>
          </a:p>
        </p:txBody>
      </p:sp>
      <p:sp>
        <p:nvSpPr>
          <p:cNvPr id="11" name="Shape 11"/>
          <p:cNvSpPr/>
          <p:nvPr/>
        </p:nvSpPr>
        <p:spPr>
          <a:xfrm>
            <a:off x="381000" y="4667250"/>
            <a:ext cx="5619750" cy="1809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Burt — baland, suv toʻplanmaydigan joyda shimoldan janubga yoʻnaltiriladi.</a:t>
            </a:r>
            <a:endParaRPr lang="uz-Latn-UZ" sz="1500" dirty="0"/>
          </a:p>
          <a:p>
            <a:pPr marL="171450" indent="-152400" algn="l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Avval somon bilan, sovuq kuchayganda tuproq bilan qatlam-qatlam yopiladi.</a:t>
            </a:r>
            <a:endParaRPr lang="uz-Latn-UZ" sz="1500" dirty="0"/>
          </a:p>
          <a:p>
            <a:pPr marL="171450" indent="-152400" algn="l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Ichki harorat termometr bilan nazorat qilinadi.</a:t>
            </a:r>
            <a:endParaRPr lang="uz-Latn-UZ" sz="1500" dirty="0"/>
          </a:p>
        </p:txBody>
      </p:sp>
      <p:sp>
        <p:nvSpPr>
          <p:cNvPr id="12" name="Shape 12"/>
          <p:cNvSpPr/>
          <p:nvPr/>
        </p:nvSpPr>
        <p:spPr>
          <a:xfrm>
            <a:off x="6191250" y="4667250"/>
            <a:ext cx="5619750" cy="1809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Transheya — sizot suvi chuqur joylarda qaziladi.</a:t>
            </a:r>
            <a:endParaRPr lang="uz-Latn-UZ" sz="1500" dirty="0"/>
          </a:p>
          <a:p>
            <a:pPr marL="171450" indent="-152400" algn="l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Sabzi qum yoki tuproq bilan qatlamlanadi — namlik saqlanadi.</a:t>
            </a:r>
            <a:endParaRPr lang="uz-Latn-UZ" sz="1500" dirty="0"/>
          </a:p>
          <a:p>
            <a:pPr marL="171450" indent="-152400" algn="l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Tuproq qatlami qalinligi sovuqqa qarab oshiriladi.</a:t>
            </a:r>
            <a:endParaRPr lang="uz-Latn-UZ" sz="1500" dirty="0"/>
          </a:p>
        </p:txBody>
      </p:sp>
      <p:sp>
        <p:nvSpPr>
          <p:cNvPr id="13" name="Shape 13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5" name="Shape 15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16</a:t>
            </a:r>
            <a:endParaRPr lang="uz-Latn-UZ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Statsionar omborlarda saqlash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02982"/>
            <a:ext cx="7239000" cy="318516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81000" y="4191000"/>
            <a:ext cx="723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400" b="1" i="0" dirty="0">
                <a:solidFill>
                  <a:srgbClr val="1E5631"/>
                </a:solidFill>
                <a:latin typeface="Arial"/>
                <a:cs typeface="Arial"/>
              </a:rPr>
              <a:t>3-rasm. Aktiv shamollatiladigan ombor sxemasi</a:t>
            </a:r>
            <a:endParaRPr lang="uz-Latn-UZ" sz="1400" dirty="0"/>
          </a:p>
        </p:txBody>
      </p:sp>
      <p:sp>
        <p:nvSpPr>
          <p:cNvPr id="7" name="Shape 7"/>
          <p:cNvSpPr/>
          <p:nvPr/>
        </p:nvSpPr>
        <p:spPr>
          <a:xfrm>
            <a:off x="7810500" y="1000125"/>
            <a:ext cx="400050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7810500" y="1000125"/>
            <a:ext cx="76200" cy="32385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7981950" y="1076325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Ombordagi usullar</a:t>
            </a:r>
            <a:endParaRPr lang="uz-Latn-UZ" sz="1800" dirty="0"/>
          </a:p>
        </p:txBody>
      </p:sp>
      <p:sp>
        <p:nvSpPr>
          <p:cNvPr id="10" name="Shape 10"/>
          <p:cNvSpPr/>
          <p:nvPr/>
        </p:nvSpPr>
        <p:spPr>
          <a:xfrm>
            <a:off x="7981950" y="1400175"/>
            <a:ext cx="3752850" cy="2781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Uyumda: sabzi 2–2,5 m, lavlagi 3–3,5 m balandlikda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Konteynerlarda (300–500 kg), 5–6 qavat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Qutilarda qum bilan qatlamlab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Polietilen qoplarda (25–30 kg)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Boʻr bilan changlash: 1 t ga taxminan 20 kg</a:t>
            </a:r>
            <a:endParaRPr lang="uz-Latn-UZ" sz="1500" dirty="0"/>
          </a:p>
        </p:txBody>
      </p:sp>
      <p:sp>
        <p:nvSpPr>
          <p:cNvPr id="11" name="Shape 11"/>
          <p:cNvSpPr/>
          <p:nvPr/>
        </p:nvSpPr>
        <p:spPr>
          <a:xfrm>
            <a:off x="381000" y="4572000"/>
            <a:ext cx="5619750" cy="180975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381000" y="4572000"/>
            <a:ext cx="57150" cy="180975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3" name="Shape 13"/>
          <p:cNvSpPr/>
          <p:nvPr/>
        </p:nvSpPr>
        <p:spPr>
          <a:xfrm>
            <a:off x="533400" y="4572000"/>
            <a:ext cx="5410200" cy="1809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Aktiv shamollatishda havo pol ostidagi kanallardan uyum orqali haydaladi: issiqlik, CO₂ va ortiqcha namlik chiqariladi, butun uyum bir xil haroratda boʻladi.</a:t>
            </a:r>
            <a:endParaRPr lang="uz-Latn-UZ" sz="1500" dirty="0"/>
          </a:p>
        </p:txBody>
      </p:sp>
      <p:sp>
        <p:nvSpPr>
          <p:cNvPr id="14" name="Shape 14"/>
          <p:cNvSpPr/>
          <p:nvPr/>
        </p:nvSpPr>
        <p:spPr>
          <a:xfrm>
            <a:off x="6191250" y="4572000"/>
            <a:ext cx="5619750" cy="180975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6191250" y="4572000"/>
            <a:ext cx="57150" cy="180975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6343650" y="4572000"/>
            <a:ext cx="5410200" cy="1809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Omborga joylashdan 2–3 hafta oldin u tozalanadi, shamollatiladi, devorlari ohak bilan oqlanadi va dezinfeksiya qilinadi. Mahsulot navlar va partiyalar boʻyicha alohida joylanadi.</a:t>
            </a:r>
            <a:endParaRPr lang="uz-Latn-UZ" sz="1500" dirty="0"/>
          </a:p>
        </p:txBody>
      </p:sp>
      <p:sp>
        <p:nvSpPr>
          <p:cNvPr id="17" name="Shape 17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9" name="Shape 19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17</a:t>
            </a:r>
            <a:endParaRPr lang="uz-Latn-UZ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Aktiv shamollatiladigan omborda saqlash rejimi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8" y="952500"/>
            <a:ext cx="7858125" cy="28575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81000" y="3857625"/>
          <a:ext cx="11430000" cy="2339127"/>
        </p:xfrm>
        <a:graphic>
          <a:graphicData uri="http://schemas.openxmlformats.org/drawingml/2006/table">
            <a:tbl>
              <a:tblPr firstRow="1" bandRow="1"/>
              <a:tblGrid>
                <a:gridCol w="1905000"/>
                <a:gridCol w="1619250"/>
                <a:gridCol w="2190750"/>
                <a:gridCol w="1524000"/>
                <a:gridCol w="4191000"/>
              </a:tblGrid>
              <a:tr h="419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Davr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Davomiyligi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Harorat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Namlik, %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Shamollatish tartibi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Davolash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8–12 kun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+12…+16 °C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Ichki va tashqi havo aralashmasi bilan davriy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Sovutish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15–30 kun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sutkasiga 0,5–1 °C pasaytirish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Tashqi havo mahsulotdan 2–3 °C sovuqroq boʻlganda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Asosiy (qishki)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4–6 oy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0…+1 °C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Sutkasiga 3–4 marta, 30 daqiqadan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Bahorgi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mart–may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+2…+3 °C gacha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90–95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Tungi va erta tongdagi sovuq havo bilan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9" name="Shape 9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18</a:t>
            </a:r>
            <a:endParaRPr lang="uz-Latn-UZ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Qand lavlagini kagatlarda saqlash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17" y="952500"/>
            <a:ext cx="8406366" cy="3286125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81000" y="4238625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400" b="1" i="0" dirty="0">
                <a:solidFill>
                  <a:srgbClr val="1E5631"/>
                </a:solidFill>
                <a:latin typeface="Arial"/>
                <a:cs typeface="Arial"/>
              </a:rPr>
              <a:t>4-rasm. Aktiv shamollatiladigan kagatning koʻndalang kesimi</a:t>
            </a:r>
            <a:endParaRPr lang="uz-Latn-UZ" sz="1400" dirty="0"/>
          </a:p>
        </p:txBody>
      </p:sp>
      <p:sp>
        <p:nvSpPr>
          <p:cNvPr id="7" name="Shape 7"/>
          <p:cNvSpPr/>
          <p:nvPr/>
        </p:nvSpPr>
        <p:spPr>
          <a:xfrm>
            <a:off x="381000" y="4572000"/>
            <a:ext cx="5619750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4572000"/>
            <a:ext cx="76200" cy="180975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552450" y="464820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8B1E3F"/>
                </a:solidFill>
                <a:latin typeface="Arial"/>
                <a:cs typeface="Arial"/>
              </a:rPr>
              <a:t>Kagat turlari</a:t>
            </a:r>
            <a:endParaRPr lang="uz-Latn-UZ" sz="1800" dirty="0"/>
          </a:p>
        </p:txBody>
      </p:sp>
      <p:sp>
        <p:nvSpPr>
          <p:cNvPr id="10" name="Shape 10"/>
          <p:cNvSpPr/>
          <p:nvPr/>
        </p:nvSpPr>
        <p:spPr>
          <a:xfrm>
            <a:off x="552450" y="4972050"/>
            <a:ext cx="5372100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Qisqa muddatli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 (1 oygacha) — ochiq holda, tez qayta ishlanadi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1" i="0" dirty="0">
                <a:solidFill>
                  <a:srgbClr val="263238"/>
                </a:solidFill>
                <a:latin typeface="Arial"/>
                <a:cs typeface="Arial"/>
              </a:rPr>
              <a:t>Uzoq muddatli</a:t>
            </a: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 — aktiv shamollatiladi, qishda somon yoki plyonka bilan yopiladi</a:t>
            </a:r>
            <a:endParaRPr lang="uz-Latn-UZ" sz="1500" dirty="0"/>
          </a:p>
        </p:txBody>
      </p:sp>
      <p:sp>
        <p:nvSpPr>
          <p:cNvPr id="11" name="Shape 11"/>
          <p:cNvSpPr/>
          <p:nvPr/>
        </p:nvSpPr>
        <p:spPr>
          <a:xfrm>
            <a:off x="6191250" y="4572000"/>
            <a:ext cx="5619750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6191250" y="4572000"/>
            <a:ext cx="76200" cy="180975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3" name="Shape 13"/>
          <p:cNvSpPr/>
          <p:nvPr/>
        </p:nvSpPr>
        <p:spPr>
          <a:xfrm>
            <a:off x="6362700" y="464820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Asosiy talablar</a:t>
            </a:r>
            <a:endParaRPr lang="uz-Latn-UZ" sz="1800" dirty="0"/>
          </a:p>
        </p:txBody>
      </p:sp>
      <p:sp>
        <p:nvSpPr>
          <p:cNvPr id="14" name="Shape 14"/>
          <p:cNvSpPr/>
          <p:nvPr/>
        </p:nvSpPr>
        <p:spPr>
          <a:xfrm>
            <a:off x="6362700" y="4972050"/>
            <a:ext cx="5372100" cy="13525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Kagat maydoni tekis, zichlangan, suv oqib ketadigan (1–2 % nishab)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Lavlagi ifloslanishi minimal, barg qoldiqlarisiz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Kagat ichidagi harorat +1…+3 °C da ushlanadi</a:t>
            </a:r>
            <a:endParaRPr lang="uz-Latn-UZ" sz="1500" dirty="0"/>
          </a:p>
        </p:txBody>
      </p:sp>
      <p:sp>
        <p:nvSpPr>
          <p:cNvPr id="15" name="Shape 15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7" name="Shape 17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19</a:t>
            </a:r>
            <a:endParaRPr lang="uz-Latn-UZ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Qand lavlagini kagatlash texnologiyasi</a:t>
            </a:r>
            <a:endParaRPr lang="uz-Latn-UZ" sz="26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2500"/>
            <a:ext cx="11430000" cy="200025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81000" y="3143250"/>
          <a:ext cx="11430000" cy="2758227"/>
        </p:xfrm>
        <a:graphic>
          <a:graphicData uri="http://schemas.openxmlformats.org/drawingml/2006/table">
            <a:tbl>
              <a:tblPr firstRow="1" bandRow="1"/>
              <a:tblGrid>
                <a:gridCol w="3143250"/>
                <a:gridCol w="8286750"/>
              </a:tblGrid>
              <a:tr h="4191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Koʻrsatkich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Talab / meʼyor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Oʻlchamlari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Eni 18–25 m, balandligi 2–3 m, uzunligi 60–150 m (mexanizatsiyalashgan)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Joylash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Kagatlovchi mashinalar bilan, lavlagini urmasdan; ohak suti (Ca(OH)₂ suspenziyasi) bilan ishlov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5409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Harorat nazorati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Termoshtangalar bilan turli chuqurlikda, har kuni; qizish oʻchogʻi aniqlansa — darhol qayta ishlashga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Shamollatish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Kanallar orqali 30–50 m³/(t·soat); havo lavlagidan sovuqroq boʻlganda yoqiladi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Qishki himoya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4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Sovuq kuchayganda somon, plyonka yoki boshqa issiqlik saqlovchi material bilan yopish</a:t>
                      </a:r>
                      <a:endParaRPr lang="uz-Latn-UZ" sz="14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9" name="Shape 9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20</a:t>
            </a:r>
            <a:endParaRPr lang="uz-Latn-UZ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Saqlash davridagi yoʻqotishlar va nazorat</a:t>
            </a:r>
            <a:endParaRPr lang="uz-Latn-UZ" sz="2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047750"/>
          <a:ext cx="11430000" cy="2628900"/>
        </p:xfrm>
        <a:graphic>
          <a:graphicData uri="http://schemas.openxmlformats.org/drawingml/2006/table">
            <a:tbl>
              <a:tblPr firstRow="1" bandRow="1"/>
              <a:tblGrid>
                <a:gridCol w="2381250"/>
                <a:gridCol w="3143250"/>
                <a:gridCol w="1905000"/>
                <a:gridCol w="4000500"/>
              </a:tblGrid>
              <a:tr h="4381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Mahsulot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Saqlash joyi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Muddat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Massa yoʻqotilishi (taxminiy)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1E563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Aktiv shamollatiladigan ombor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 oy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4–6 %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Sabzi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Burt, transheya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 oy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8–12 %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Xoʻraki lavlagi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Aktiv shamollatiladigan ombor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 oy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3–5 %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Xoʻraki lavlagi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Burt, transheya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 oy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6–9 %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EEF6E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1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Qand lavlagi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Kagat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1 sutka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lang="uz-Latn-UZ" sz="1500" b="0" i="0" dirty="0">
                          <a:solidFill>
                            <a:srgbClr val="263238"/>
                          </a:solidFill>
                          <a:latin typeface="Arial"/>
                          <a:cs typeface="Arial"/>
                        </a:rPr>
                        <a:t>massa 0,02–0,05 %; saxaroza 0,01–0,03 %</a:t>
                      </a:r>
                      <a:endParaRPr lang="uz-Latn-UZ" sz="1500" dirty="0"/>
                    </a:p>
                  </a:txBody>
                  <a:tcPr marL="57150" marR="57150" marT="38100" marB="38100" anchor="ctr">
                    <a:lnL w="9525">
                      <a:solidFill>
                        <a:srgbClr val="B7C9B3"/>
                      </a:solidFill>
                    </a:lnL>
                    <a:lnR w="9525">
                      <a:solidFill>
                        <a:srgbClr val="B7C9B3"/>
                      </a:solidFill>
                    </a:lnR>
                    <a:lnT w="9525">
                      <a:solidFill>
                        <a:srgbClr val="B7C9B3"/>
                      </a:solidFill>
                    </a:lnT>
                    <a:lnB w="9525">
                      <a:solidFill>
                        <a:srgbClr val="B7C9B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381000" y="371475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200" b="0" i="1" dirty="0">
                <a:solidFill>
                  <a:srgbClr val="6B7B6E"/>
                </a:solidFill>
                <a:latin typeface="Arial"/>
                <a:cs typeface="Arial"/>
              </a:rPr>
              <a:t>Rasmiy meʼyorlar mintaqa, mahsulot turi va saqlash muddatiga qarab meʼyoriy hujjatlarda belgilanadi.</a:t>
            </a:r>
            <a:endParaRPr lang="uz-Latn-UZ" sz="1200" dirty="0"/>
          </a:p>
        </p:txBody>
      </p:sp>
      <p:sp>
        <p:nvSpPr>
          <p:cNvPr id="7" name="Shape 7"/>
          <p:cNvSpPr/>
          <p:nvPr/>
        </p:nvSpPr>
        <p:spPr>
          <a:xfrm>
            <a:off x="381000" y="4286250"/>
            <a:ext cx="371475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381000" y="4286250"/>
            <a:ext cx="76200" cy="20955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9" name="Shape 9"/>
          <p:cNvSpPr/>
          <p:nvPr/>
        </p:nvSpPr>
        <p:spPr>
          <a:xfrm>
            <a:off x="552450" y="436245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E5631"/>
                </a:solidFill>
                <a:latin typeface="Arial"/>
                <a:cs typeface="Arial"/>
              </a:rPr>
              <a:t>Tabiiy kamayish</a:t>
            </a:r>
            <a:endParaRPr lang="uz-Latn-UZ" sz="1800" dirty="0"/>
          </a:p>
        </p:txBody>
      </p:sp>
      <p:sp>
        <p:nvSpPr>
          <p:cNvPr id="10" name="Shape 10"/>
          <p:cNvSpPr/>
          <p:nvPr/>
        </p:nvSpPr>
        <p:spPr>
          <a:xfrm>
            <a:off x="552450" y="4686300"/>
            <a:ext cx="3467100" cy="1638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Nafas olish va bugʻlanish hisobiga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Meʼyor doirasida hisobdan chiqariladi</a:t>
            </a:r>
            <a:endParaRPr lang="uz-Latn-UZ" sz="1500" dirty="0"/>
          </a:p>
        </p:txBody>
      </p:sp>
      <p:sp>
        <p:nvSpPr>
          <p:cNvPr id="11" name="Shape 11"/>
          <p:cNvSpPr/>
          <p:nvPr/>
        </p:nvSpPr>
        <p:spPr>
          <a:xfrm>
            <a:off x="4238625" y="4286250"/>
            <a:ext cx="371475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2" name="Shape 12"/>
          <p:cNvSpPr/>
          <p:nvPr/>
        </p:nvSpPr>
        <p:spPr>
          <a:xfrm>
            <a:off x="4238625" y="4286250"/>
            <a:ext cx="76200" cy="2095500"/>
          </a:xfrm>
          <a:prstGeom prst="rect">
            <a:avLst/>
          </a:prstGeom>
          <a:solidFill>
            <a:srgbClr val="8B1E3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3" name="Shape 13"/>
          <p:cNvSpPr/>
          <p:nvPr/>
        </p:nvSpPr>
        <p:spPr>
          <a:xfrm>
            <a:off x="4410075" y="436245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8B1E3F"/>
                </a:solidFill>
                <a:latin typeface="Arial"/>
                <a:cs typeface="Arial"/>
              </a:rPr>
              <a:t>Texnik chiqitlar</a:t>
            </a:r>
            <a:endParaRPr lang="uz-Latn-UZ" sz="1800" dirty="0"/>
          </a:p>
        </p:txBody>
      </p:sp>
      <p:sp>
        <p:nvSpPr>
          <p:cNvPr id="14" name="Shape 14"/>
          <p:cNvSpPr/>
          <p:nvPr/>
        </p:nvSpPr>
        <p:spPr>
          <a:xfrm>
            <a:off x="4410075" y="4686300"/>
            <a:ext cx="3467100" cy="1638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Chirigan, soʻlgan, unib chiqqan ildizmevalar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Meʼyordan ortigʻi — saqlash xatosi</a:t>
            </a:r>
            <a:endParaRPr lang="uz-Latn-UZ" sz="1500" dirty="0"/>
          </a:p>
        </p:txBody>
      </p:sp>
      <p:sp>
        <p:nvSpPr>
          <p:cNvPr id="15" name="Shape 15"/>
          <p:cNvSpPr/>
          <p:nvPr/>
        </p:nvSpPr>
        <p:spPr>
          <a:xfrm>
            <a:off x="8096250" y="4286250"/>
            <a:ext cx="371475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6" name="Shape 16"/>
          <p:cNvSpPr/>
          <p:nvPr/>
        </p:nvSpPr>
        <p:spPr>
          <a:xfrm>
            <a:off x="8096250" y="4286250"/>
            <a:ext cx="76200" cy="20955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7" name="Shape 17"/>
          <p:cNvSpPr/>
          <p:nvPr/>
        </p:nvSpPr>
        <p:spPr>
          <a:xfrm>
            <a:off x="8267700" y="4362450"/>
            <a:ext cx="34671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1F6FB2"/>
                </a:solidFill>
                <a:latin typeface="Arial"/>
                <a:cs typeface="Arial"/>
              </a:rPr>
              <a:t>Nazorat vositalari</a:t>
            </a:r>
            <a:endParaRPr lang="uz-Latn-UZ" sz="1800" dirty="0"/>
          </a:p>
        </p:txBody>
      </p:sp>
      <p:sp>
        <p:nvSpPr>
          <p:cNvPr id="18" name="Shape 18"/>
          <p:cNvSpPr/>
          <p:nvPr/>
        </p:nvSpPr>
        <p:spPr>
          <a:xfrm>
            <a:off x="8267700" y="4686300"/>
            <a:ext cx="3467100" cy="16383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Termometr, termoshtanga, psixrometr</a:t>
            </a:r>
            <a:endParaRPr lang="uz-Latn-UZ" sz="1500" dirty="0"/>
          </a:p>
          <a:p>
            <a:pPr marL="171450" indent="-152400" algn="l">
              <a:spcAft>
                <a:spcPts val="3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500" b="0" i="0" dirty="0">
                <a:solidFill>
                  <a:srgbClr val="263238"/>
                </a:solidFill>
                <a:latin typeface="Arial"/>
                <a:cs typeface="Arial"/>
              </a:rPr>
              <a:t>Davriy sifat tahlili va qayta saralash</a:t>
            </a:r>
            <a:endParaRPr lang="uz-Latn-UZ" sz="1500" dirty="0"/>
          </a:p>
        </p:txBody>
      </p:sp>
      <p:sp>
        <p:nvSpPr>
          <p:cNvPr id="19" name="Shape 1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0" name="Shape 2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21" name="Shape 2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21</a:t>
            </a:r>
            <a:endParaRPr lang="uz-Latn-UZ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Xulosa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11430000" cy="4286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Ildizmevalar saqlash davrida tirik organizm sifatida nafas oladi, suv bugʻlatadi va issiqlik ajratadi — bu massa va sifat yoʻqotilishining asosiy sababi.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Ularda chuqur tinim davri yoʻq, shuning uchun </a:t>
            </a:r>
            <a:r>
              <a:rPr lang="uz-Latn-UZ" sz="1800" b="1" i="0" dirty="0">
                <a:solidFill>
                  <a:srgbClr val="263238"/>
                </a:solidFill>
                <a:latin typeface="Arial"/>
                <a:cs typeface="Arial"/>
              </a:rPr>
              <a:t>0…+1 °C</a:t>
            </a: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 va </a:t>
            </a:r>
            <a:r>
              <a:rPr lang="uz-Latn-UZ" sz="1800" b="1" i="0" dirty="0">
                <a:solidFill>
                  <a:srgbClr val="263238"/>
                </a:solidFill>
                <a:latin typeface="Arial"/>
                <a:cs typeface="Arial"/>
              </a:rPr>
              <a:t>90–95 %</a:t>
            </a: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 namlik — asosiy shart (qand lavlagi uchun +1…+3 °C).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Saqlash rejimi bosqichma-bosqich: </a:t>
            </a:r>
            <a:r>
              <a:rPr lang="uz-Latn-UZ" sz="1800" b="1" i="0" dirty="0">
                <a:solidFill>
                  <a:srgbClr val="263238"/>
                </a:solidFill>
                <a:latin typeface="Arial"/>
                <a:cs typeface="Arial"/>
              </a:rPr>
              <a:t>davolash – sovutish – asosiy davr – bahorgi davr</a:t>
            </a: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Qand lavlagida saqlash davomida saxaroza yoʻqotiladi; shikastlangan, soʻlgan va muzlagan lavlagi birinchi navbatda qayta ishlanadi.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Eng samarali usullar — aktiv shamollatiladigan va sunʼiy sovutiladigan omborlar; qand lavlagi uchun — aktiv shamollatiladigan kagatlar.</a:t>
            </a:r>
            <a:endParaRPr lang="uz-Latn-UZ" sz="1800" dirty="0"/>
          </a:p>
          <a:p>
            <a:pPr marL="171450" indent="-152400" algn="l">
              <a:spcAft>
                <a:spcPts val="10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800" b="0" i="0" dirty="0">
                <a:solidFill>
                  <a:srgbClr val="263238"/>
                </a:solidFill>
                <a:latin typeface="Arial"/>
                <a:cs typeface="Arial"/>
              </a:rPr>
              <a:t>Yaxshi saqlash dalada boshlanadi: nav, agrotexnika, shikastsiz yigʻim va sifatli saralash.</a:t>
            </a:r>
            <a:endParaRPr lang="uz-Latn-UZ" sz="1800" dirty="0"/>
          </a:p>
        </p:txBody>
      </p:sp>
      <p:sp>
        <p:nvSpPr>
          <p:cNvPr id="6" name="Shape 6"/>
          <p:cNvSpPr/>
          <p:nvPr/>
        </p:nvSpPr>
        <p:spPr>
          <a:xfrm>
            <a:off x="381000" y="5429250"/>
            <a:ext cx="11430000" cy="9525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429250"/>
            <a:ext cx="57150" cy="9525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429250"/>
            <a:ext cx="11220450" cy="952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0" i="0" dirty="0">
                <a:solidFill>
                  <a:srgbClr val="263238"/>
                </a:solidFill>
                <a:latin typeface="Arial"/>
                <a:cs typeface="Arial"/>
              </a:rPr>
              <a:t>“Mahsulotni saqlash — uni yetishtirishning davomi”: dalada yetishtirilgan hosilning qadri omborda saqlab qolinadi.</a:t>
            </a:r>
            <a:endParaRPr lang="uz-Latn-UZ" sz="1700" dirty="0"/>
          </a:p>
        </p:txBody>
      </p:sp>
      <p:sp>
        <p:nvSpPr>
          <p:cNvPr id="9" name="Shape 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1" name="Shape 1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22</a:t>
            </a:r>
            <a:endParaRPr lang="uz-Latn-UZ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Nazorat savollari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514350" y="1181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14350" y="1181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uz-Latn-UZ" sz="1800" dirty="0"/>
          </a:p>
        </p:txBody>
      </p:sp>
      <p:sp>
        <p:nvSpPr>
          <p:cNvPr id="8" name="Shape 8"/>
          <p:cNvSpPr/>
          <p:nvPr/>
        </p:nvSpPr>
        <p:spPr>
          <a:xfrm>
            <a:off x="1047750" y="1123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Ildizmevalilarga qaysi ekinlar kiradi va ular qaysi oilalarga mansub?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6191250" y="1047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6324600" y="1181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6324600" y="1181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uz-Latn-UZ" sz="1800" dirty="0"/>
          </a:p>
        </p:txBody>
      </p:sp>
      <p:sp>
        <p:nvSpPr>
          <p:cNvPr id="12" name="Shape 12"/>
          <p:cNvSpPr/>
          <p:nvPr/>
        </p:nvSpPr>
        <p:spPr>
          <a:xfrm>
            <a:off x="6858000" y="1123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Nima uchun ildizmevalarda chuqur tinim davri yoʻq va bu saqlashga qanday taʼsir qiladi?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2381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514350" y="2514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514350" y="2514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uz-Latn-UZ" sz="1800" dirty="0"/>
          </a:p>
        </p:txBody>
      </p:sp>
      <p:sp>
        <p:nvSpPr>
          <p:cNvPr id="16" name="Shape 16"/>
          <p:cNvSpPr/>
          <p:nvPr/>
        </p:nvSpPr>
        <p:spPr>
          <a:xfrm>
            <a:off x="1047750" y="2457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Nafas olish jarayoni saqlash davrida qanday yoʻqotishlarga olib keladi?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6191250" y="2381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6324600" y="2514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6324600" y="2514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uz-Latn-UZ" sz="1800" dirty="0"/>
          </a:p>
        </p:txBody>
      </p:sp>
      <p:sp>
        <p:nvSpPr>
          <p:cNvPr id="20" name="Shape 20"/>
          <p:cNvSpPr/>
          <p:nvPr/>
        </p:nvSpPr>
        <p:spPr>
          <a:xfrm>
            <a:off x="6858000" y="2457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Davolash (yaralarni bitkazish) davri qanday sharoitda oʻtkaziladi?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381000" y="3714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514350" y="3848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514350" y="3848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uz-Latn-UZ" sz="1800" dirty="0"/>
          </a:p>
        </p:txBody>
      </p:sp>
      <p:sp>
        <p:nvSpPr>
          <p:cNvPr id="24" name="Shape 24"/>
          <p:cNvSpPr/>
          <p:nvPr/>
        </p:nvSpPr>
        <p:spPr>
          <a:xfrm>
            <a:off x="1047750" y="3790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Qand lavlagida saqlash davomida saxaroza yoʻqotilishiga qaysi omillar taʼsir qiladi?</a:t>
            </a:r>
            <a:endParaRPr lang="uz-Latn-UZ" sz="1600" dirty="0"/>
          </a:p>
        </p:txBody>
      </p:sp>
      <p:sp>
        <p:nvSpPr>
          <p:cNvPr id="25" name="Shape 25"/>
          <p:cNvSpPr/>
          <p:nvPr/>
        </p:nvSpPr>
        <p:spPr>
          <a:xfrm>
            <a:off x="6191250" y="37147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6" name="Shape 26"/>
          <p:cNvSpPr/>
          <p:nvPr/>
        </p:nvSpPr>
        <p:spPr>
          <a:xfrm>
            <a:off x="6324600" y="38481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7" name="Shape 27"/>
          <p:cNvSpPr/>
          <p:nvPr/>
        </p:nvSpPr>
        <p:spPr>
          <a:xfrm>
            <a:off x="6324600" y="38481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uz-Latn-UZ" sz="1800" dirty="0"/>
          </a:p>
        </p:txBody>
      </p:sp>
      <p:sp>
        <p:nvSpPr>
          <p:cNvPr id="28" name="Shape 28"/>
          <p:cNvSpPr/>
          <p:nvPr/>
        </p:nvSpPr>
        <p:spPr>
          <a:xfrm>
            <a:off x="6858000" y="37909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Kagat chirishini qanday zamburugʻlar keltirib chiqaradi va unga qarshi qanday choralar koʻriladi?</a:t>
            </a:r>
            <a:endParaRPr lang="uz-Latn-UZ" sz="1600" dirty="0"/>
          </a:p>
        </p:txBody>
      </p:sp>
      <p:sp>
        <p:nvSpPr>
          <p:cNvPr id="29" name="Shape 29"/>
          <p:cNvSpPr/>
          <p:nvPr/>
        </p:nvSpPr>
        <p:spPr>
          <a:xfrm>
            <a:off x="381000" y="5048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0" name="Shape 30"/>
          <p:cNvSpPr/>
          <p:nvPr/>
        </p:nvSpPr>
        <p:spPr>
          <a:xfrm>
            <a:off x="514350" y="5181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1" name="Shape 31"/>
          <p:cNvSpPr/>
          <p:nvPr/>
        </p:nvSpPr>
        <p:spPr>
          <a:xfrm>
            <a:off x="514350" y="5181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uz-Latn-UZ" sz="1800" dirty="0"/>
          </a:p>
        </p:txBody>
      </p:sp>
      <p:sp>
        <p:nvSpPr>
          <p:cNvPr id="32" name="Shape 32"/>
          <p:cNvSpPr/>
          <p:nvPr/>
        </p:nvSpPr>
        <p:spPr>
          <a:xfrm>
            <a:off x="1047750" y="5124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Burt va transheyaning farqi, afzalliklari va kamchiliklari nimada?</a:t>
            </a:r>
            <a:endParaRPr lang="uz-Latn-UZ" sz="1600" dirty="0"/>
          </a:p>
        </p:txBody>
      </p:sp>
      <p:sp>
        <p:nvSpPr>
          <p:cNvPr id="33" name="Shape 33"/>
          <p:cNvSpPr/>
          <p:nvPr/>
        </p:nvSpPr>
        <p:spPr>
          <a:xfrm>
            <a:off x="6191250" y="5048250"/>
            <a:ext cx="5619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4" name="Shape 34"/>
          <p:cNvSpPr/>
          <p:nvPr/>
        </p:nvSpPr>
        <p:spPr>
          <a:xfrm>
            <a:off x="6324600" y="5181600"/>
            <a:ext cx="419100" cy="4191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5" name="Shape 35"/>
          <p:cNvSpPr/>
          <p:nvPr/>
        </p:nvSpPr>
        <p:spPr>
          <a:xfrm>
            <a:off x="6324600" y="5181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uz-Latn-UZ" sz="1800" b="1" i="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uz-Latn-UZ" sz="1800" dirty="0"/>
          </a:p>
        </p:txBody>
      </p:sp>
      <p:sp>
        <p:nvSpPr>
          <p:cNvPr id="36" name="Shape 36"/>
          <p:cNvSpPr/>
          <p:nvPr/>
        </p:nvSpPr>
        <p:spPr>
          <a:xfrm>
            <a:off x="6858000" y="5124450"/>
            <a:ext cx="4810125" cy="1047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Aktiv shamollatiladigan omborda saqlash rejimi qanday davrlardan iborat?</a:t>
            </a:r>
            <a:endParaRPr lang="uz-Latn-UZ" sz="1600" dirty="0"/>
          </a:p>
        </p:txBody>
      </p:sp>
      <p:sp>
        <p:nvSpPr>
          <p:cNvPr id="37" name="Shape 37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8" name="Shape 38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39" name="Shape 39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23</a:t>
            </a:r>
            <a:endParaRPr lang="uz-Latn-UZ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Bilimni mustahkamlash: test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287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6" name="Shape 6"/>
          <p:cNvSpPr/>
          <p:nvPr/>
        </p:nvSpPr>
        <p:spPr>
          <a:xfrm>
            <a:off x="381000" y="1028700"/>
            <a:ext cx="76200" cy="8763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590550" y="10858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1. Sabzi va xoʻraki lavlagini saqlashning optimal harorati?</a:t>
            </a:r>
            <a:endParaRPr lang="uz-Latn-UZ" sz="1700" dirty="0"/>
          </a:p>
        </p:txBody>
      </p:sp>
      <p:sp>
        <p:nvSpPr>
          <p:cNvPr id="8" name="Shape 8"/>
          <p:cNvSpPr/>
          <p:nvPr/>
        </p:nvSpPr>
        <p:spPr>
          <a:xfrm>
            <a:off x="590550" y="14478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−2…−1 °C   B) 0…+1 °C   C) +4…+6 °C   D) +8…+10 °C</a:t>
            </a:r>
            <a:endParaRPr lang="uz-Latn-UZ" sz="1600" dirty="0"/>
          </a:p>
        </p:txBody>
      </p:sp>
      <p:sp>
        <p:nvSpPr>
          <p:cNvPr id="9" name="Shape 9"/>
          <p:cNvSpPr/>
          <p:nvPr/>
        </p:nvSpPr>
        <p:spPr>
          <a:xfrm>
            <a:off x="381000" y="20193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2019300"/>
            <a:ext cx="76200" cy="8763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1" name="Shape 11"/>
          <p:cNvSpPr/>
          <p:nvPr/>
        </p:nvSpPr>
        <p:spPr>
          <a:xfrm>
            <a:off x="590550" y="20764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2. Ildizmevalarni saqlashda havoning optimal nisbiy namligi?</a:t>
            </a:r>
            <a:endParaRPr lang="uz-Latn-UZ" sz="1700" dirty="0"/>
          </a:p>
        </p:txBody>
      </p:sp>
      <p:sp>
        <p:nvSpPr>
          <p:cNvPr id="12" name="Shape 12"/>
          <p:cNvSpPr/>
          <p:nvPr/>
        </p:nvSpPr>
        <p:spPr>
          <a:xfrm>
            <a:off x="590550" y="24384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60–65 %   B) 70–75 %   C) 80–85 %   D) 90–95 %</a:t>
            </a:r>
            <a:endParaRPr lang="uz-Latn-UZ" sz="1600" dirty="0"/>
          </a:p>
        </p:txBody>
      </p:sp>
      <p:sp>
        <p:nvSpPr>
          <p:cNvPr id="13" name="Shape 13"/>
          <p:cNvSpPr/>
          <p:nvPr/>
        </p:nvSpPr>
        <p:spPr>
          <a:xfrm>
            <a:off x="381000" y="30099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4" name="Shape 14"/>
          <p:cNvSpPr/>
          <p:nvPr/>
        </p:nvSpPr>
        <p:spPr>
          <a:xfrm>
            <a:off x="381000" y="3009900"/>
            <a:ext cx="76200" cy="8763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5" name="Shape 15"/>
          <p:cNvSpPr/>
          <p:nvPr/>
        </p:nvSpPr>
        <p:spPr>
          <a:xfrm>
            <a:off x="590550" y="30670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3. Davolash davrining harorati qancha?</a:t>
            </a:r>
            <a:endParaRPr lang="uz-Latn-UZ" sz="1700" dirty="0"/>
          </a:p>
        </p:txBody>
      </p:sp>
      <p:sp>
        <p:nvSpPr>
          <p:cNvPr id="16" name="Shape 16"/>
          <p:cNvSpPr/>
          <p:nvPr/>
        </p:nvSpPr>
        <p:spPr>
          <a:xfrm>
            <a:off x="590550" y="3429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0…+1 °C   B) +12…+16 °C   C) +20…+25 °C   D) +3…+5 °C</a:t>
            </a:r>
            <a:endParaRPr lang="uz-Latn-UZ" sz="1600" dirty="0"/>
          </a:p>
        </p:txBody>
      </p:sp>
      <p:sp>
        <p:nvSpPr>
          <p:cNvPr id="17" name="Shape 17"/>
          <p:cNvSpPr/>
          <p:nvPr/>
        </p:nvSpPr>
        <p:spPr>
          <a:xfrm>
            <a:off x="381000" y="40005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8" name="Shape 18"/>
          <p:cNvSpPr/>
          <p:nvPr/>
        </p:nvSpPr>
        <p:spPr>
          <a:xfrm>
            <a:off x="381000" y="4000500"/>
            <a:ext cx="76200" cy="876300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9" name="Shape 19"/>
          <p:cNvSpPr/>
          <p:nvPr/>
        </p:nvSpPr>
        <p:spPr>
          <a:xfrm>
            <a:off x="590550" y="40576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4. Kagat chirishini keltirib chiqaruvchi zamburugʻ:</a:t>
            </a:r>
            <a:endParaRPr lang="uz-Latn-UZ" sz="1700" dirty="0"/>
          </a:p>
        </p:txBody>
      </p:sp>
      <p:sp>
        <p:nvSpPr>
          <p:cNvPr id="20" name="Shape 20"/>
          <p:cNvSpPr/>
          <p:nvPr/>
        </p:nvSpPr>
        <p:spPr>
          <a:xfrm>
            <a:off x="590550" y="4419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Botrytis cinerea   B) Phytophthora infestans   C) Puccinia   D) Erysiphe</a:t>
            </a:r>
            <a:endParaRPr lang="uz-Latn-UZ" sz="1600" dirty="0"/>
          </a:p>
        </p:txBody>
      </p:sp>
      <p:sp>
        <p:nvSpPr>
          <p:cNvPr id="21" name="Shape 21"/>
          <p:cNvSpPr/>
          <p:nvPr/>
        </p:nvSpPr>
        <p:spPr>
          <a:xfrm>
            <a:off x="381000" y="4991100"/>
            <a:ext cx="11430000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D5DED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2" name="Shape 22"/>
          <p:cNvSpPr/>
          <p:nvPr/>
        </p:nvSpPr>
        <p:spPr>
          <a:xfrm>
            <a:off x="381000" y="4991100"/>
            <a:ext cx="76200" cy="8763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3" name="Shape 23"/>
          <p:cNvSpPr/>
          <p:nvPr/>
        </p:nvSpPr>
        <p:spPr>
          <a:xfrm>
            <a:off x="590550" y="50482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700" b="1" i="0" dirty="0">
                <a:solidFill>
                  <a:srgbClr val="263238"/>
                </a:solidFill>
                <a:latin typeface="Arial"/>
                <a:cs typeface="Arial"/>
              </a:rPr>
              <a:t>5. Qand lavlagi kagatining odatiy eni:</a:t>
            </a:r>
            <a:endParaRPr lang="uz-Latn-UZ" sz="1700" dirty="0"/>
          </a:p>
        </p:txBody>
      </p:sp>
      <p:sp>
        <p:nvSpPr>
          <p:cNvPr id="24" name="Shape 24"/>
          <p:cNvSpPr/>
          <p:nvPr/>
        </p:nvSpPr>
        <p:spPr>
          <a:xfrm>
            <a:off x="590550" y="54102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600" b="0" i="0" dirty="0">
                <a:solidFill>
                  <a:srgbClr val="455A64"/>
                </a:solidFill>
                <a:latin typeface="Arial"/>
                <a:cs typeface="Arial"/>
              </a:rPr>
              <a:t>A) 2–3 m   B) 5–8 m   C) 18–25 m   D) 40–50 m</a:t>
            </a:r>
            <a:endParaRPr lang="uz-Latn-UZ" sz="1600" dirty="0"/>
          </a:p>
        </p:txBody>
      </p:sp>
      <p:sp>
        <p:nvSpPr>
          <p:cNvPr id="25" name="Shape 25"/>
          <p:cNvSpPr/>
          <p:nvPr/>
        </p:nvSpPr>
        <p:spPr>
          <a:xfrm>
            <a:off x="381000" y="60198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400" b="1" i="0" dirty="0">
                <a:solidFill>
                  <a:srgbClr val="9AA79C"/>
                </a:solidFill>
                <a:latin typeface="Arial"/>
                <a:cs typeface="Arial"/>
              </a:rPr>
              <a:t>Javoblar: 1 – B; 2 – D; 3 – B; 4 – A; 5 – C</a:t>
            </a:r>
            <a:endParaRPr lang="uz-Latn-UZ" sz="1400" dirty="0"/>
          </a:p>
        </p:txBody>
      </p:sp>
      <p:sp>
        <p:nvSpPr>
          <p:cNvPr id="26" name="Shape 26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27" name="Shape 27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28" name="Shape 28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24</a:t>
            </a:r>
            <a:endParaRPr lang="uz-Latn-UZ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E563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3" name="Shape 3"/>
          <p:cNvSpPr/>
          <p:nvPr/>
        </p:nvSpPr>
        <p:spPr>
          <a:xfrm>
            <a:off x="0" y="800100"/>
            <a:ext cx="12192000" cy="47625"/>
          </a:xfrm>
          <a:prstGeom prst="rect">
            <a:avLst/>
          </a:prstGeom>
          <a:solidFill>
            <a:srgbClr val="E8772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4" name="Shape 4"/>
          <p:cNvSpPr/>
          <p:nvPr/>
        </p:nvSpPr>
        <p:spPr>
          <a:xfrm>
            <a:off x="381000" y="9525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2600" b="1" i="0" dirty="0">
                <a:solidFill>
                  <a:srgbClr val="FFFFFF"/>
                </a:solidFill>
                <a:latin typeface="Arial"/>
                <a:cs typeface="Arial"/>
              </a:rPr>
              <a:t>Foydalanilgan adabiyotlar</a:t>
            </a:r>
            <a:endParaRPr lang="uz-Latn-UZ" sz="2600" dirty="0"/>
          </a:p>
        </p:txBody>
      </p:sp>
      <p:sp>
        <p:nvSpPr>
          <p:cNvPr id="5" name="Shape 5"/>
          <p:cNvSpPr/>
          <p:nvPr/>
        </p:nvSpPr>
        <p:spPr>
          <a:xfrm>
            <a:off x="381000" y="1047750"/>
            <a:ext cx="11430000" cy="44767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Ostonaqulov T.E., Zuyev V.I., Qodirxoʻjayev O.Q. Mevachilik va sabzavotchilik. — Toshkent.</a:t>
            </a:r>
            <a:endParaRPr lang="uz-Latn-UZ" sz="1600" dirty="0"/>
          </a:p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Широков Е.П., Полегаев В.И. Хранение и переработка плодов и овощей. — Москва: Агропромиздат.</a:t>
            </a:r>
            <a:endParaRPr lang="uz-Latn-UZ" sz="1600" dirty="0"/>
          </a:p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Трисвятский Л.А. и др. Хранение и технология сельскохозяйственных продуктов. — Москва: Агропромиздат.</a:t>
            </a:r>
            <a:endParaRPr lang="uz-Latn-UZ" sz="1600" dirty="0"/>
          </a:p>
          <a:p>
            <a:pPr marL="171450" indent="-152400" algn="l">
              <a:spcAft>
                <a:spcPts val="1200"/>
              </a:spcAft>
              <a:buClr>
                <a:srgbClr val="E8772E"/>
              </a:buClr>
              <a:buFont typeface="Arial"/>
              <a:buChar char="•"/>
            </a:pPr>
            <a:r>
              <a:rPr lang="uz-Latn-UZ" sz="1600" b="0" i="0" dirty="0">
                <a:solidFill>
                  <a:srgbClr val="263238"/>
                </a:solidFill>
                <a:latin typeface="Arial"/>
                <a:cs typeface="Arial"/>
              </a:rPr>
              <a:t>Qishloq xoʻjalik mahsulotlarini saqlash va dastlabki ishlash texnologiyasi fanidan oʻquv-uslubiy majmua (4-mavzu materiallari).</a:t>
            </a:r>
            <a:endParaRPr lang="uz-Latn-UZ" sz="1600" dirty="0"/>
          </a:p>
        </p:txBody>
      </p:sp>
      <p:sp>
        <p:nvSpPr>
          <p:cNvPr id="6" name="Shape 6"/>
          <p:cNvSpPr/>
          <p:nvPr/>
        </p:nvSpPr>
        <p:spPr>
          <a:xfrm>
            <a:off x="381000" y="5524500"/>
            <a:ext cx="11430000" cy="85725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7" name="Shape 7"/>
          <p:cNvSpPr/>
          <p:nvPr/>
        </p:nvSpPr>
        <p:spPr>
          <a:xfrm>
            <a:off x="381000" y="5524500"/>
            <a:ext cx="57150" cy="85725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8" name="Shape 8"/>
          <p:cNvSpPr/>
          <p:nvPr/>
        </p:nvSpPr>
        <p:spPr>
          <a:xfrm>
            <a:off x="533400" y="5524500"/>
            <a:ext cx="11220450" cy="8572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400" b="0" i="0" dirty="0">
                <a:solidFill>
                  <a:srgbClr val="263238"/>
                </a:solidFill>
                <a:latin typeface="Arial"/>
                <a:cs typeface="Arial"/>
              </a:rPr>
              <a:t>Izoh: jadval va diagrammalardagi raqamlar oʻquv adabiyotlaridagi oʻrtacha (taxminiy) qiymatlar asosida keltirilgan; aniq meʼyorlar uchun amaldagi meʼyoriy hujjatlarga murojaat qiling.</a:t>
            </a:r>
            <a:endParaRPr lang="uz-Latn-UZ" sz="1400" dirty="0"/>
          </a:p>
        </p:txBody>
      </p:sp>
      <p:sp>
        <p:nvSpPr>
          <p:cNvPr id="9" name="Shape 9"/>
          <p:cNvSpPr/>
          <p:nvPr/>
        </p:nvSpPr>
        <p:spPr>
          <a:xfrm>
            <a:off x="381000" y="6515100"/>
            <a:ext cx="11430000" cy="9525"/>
          </a:xfrm>
          <a:prstGeom prst="rect">
            <a:avLst/>
          </a:prstGeom>
          <a:solidFill>
            <a:srgbClr val="C9D6C5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uz-Latn-UZ" dirty="0"/>
          </a:p>
        </p:txBody>
      </p:sp>
      <p:sp>
        <p:nvSpPr>
          <p:cNvPr id="10" name="Shape 10"/>
          <p:cNvSpPr/>
          <p:nvPr/>
        </p:nvSpPr>
        <p:spPr>
          <a:xfrm>
            <a:off x="381000" y="65532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uz-Latn-UZ" sz="1100" b="0" i="0" dirty="0">
                <a:solidFill>
                  <a:srgbClr val="6B7B6E"/>
                </a:solidFill>
                <a:latin typeface="Arial"/>
                <a:cs typeface="Arial"/>
              </a:rPr>
              <a:t>4-mavzu. Ildizmevali ekinlar va qand lavlagini saqlash</a:t>
            </a:r>
            <a:endParaRPr lang="uz-Latn-UZ" sz="1100" dirty="0"/>
          </a:p>
        </p:txBody>
      </p:sp>
      <p:sp>
        <p:nvSpPr>
          <p:cNvPr id="11" name="Shape 11"/>
          <p:cNvSpPr/>
          <p:nvPr/>
        </p:nvSpPr>
        <p:spPr>
          <a:xfrm>
            <a:off x="10477500" y="65532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>
            <a:noAutofit/>
          </a:bodyPr>
          <a:lstStyle/>
          <a:p>
            <a:pPr algn="r">
              <a:spcAft>
                <a:spcPts val="600"/>
              </a:spcAft>
              <a:buNone/>
            </a:pPr>
            <a:r>
              <a:rPr lang="uz-Latn-UZ" sz="1100" b="1" i="0" dirty="0">
                <a:solidFill>
                  <a:srgbClr val="1E5631"/>
                </a:solidFill>
                <a:latin typeface="Arial"/>
                <a:cs typeface="Arial"/>
              </a:rPr>
              <a:t>25</a:t>
            </a:r>
            <a:endParaRPr lang="uz-Latn-UZ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o">
  <a:themeElements>
    <a:clrScheme name="Agro">
      <a:dk1>
        <a:srgbClr val="000000"/>
      </a:dk1>
      <a:lt1>
        <a:srgbClr val="FFFFFF"/>
      </a:lt1>
      <a:dk2>
        <a:srgbClr val="1E5631"/>
      </a:dk2>
      <a:lt2>
        <a:srgbClr val="FAF7F0"/>
      </a:lt2>
      <a:accent1>
        <a:srgbClr val="1E5631"/>
      </a:accent1>
      <a:accent2>
        <a:srgbClr val="E8772E"/>
      </a:accent2>
      <a:accent3>
        <a:srgbClr val="8B1E3F"/>
      </a:accent3>
      <a:accent4>
        <a:srgbClr val="558B2F"/>
      </a:accent4>
      <a:accent5>
        <a:srgbClr val="1F6FB2"/>
      </a:accent5>
      <a:accent6>
        <a:srgbClr val="B7950B"/>
      </a:accent6>
      <a:hlink>
        <a:srgbClr val="1F6FB2"/>
      </a:hlink>
      <a:folHlink>
        <a:srgbClr val="5B2C6F"/>
      </a:folHlink>
    </a:clrScheme>
    <a:fontScheme name="Agr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g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Ildizmevali ekinlar va qand lavlagini saqlash</dc:title>
  <dc:creator>Kiro</dc:creator>
  <dcterms:created xsi:type="dcterms:W3CDTF">2026-10-14T00:00:00Z</dcterms:created>
</cp:coreProperties>
</file>