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2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1232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571500" y="1143000"/>
            <a:ext cx="76200" cy="28575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5" name="Shape 5"/>
          <p:cNvSpPr/>
          <p:nvPr/>
        </p:nvSpPr>
        <p:spPr>
          <a:xfrm>
            <a:off x="809625" y="104775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5B37A"/>
                </a:solidFill>
                <a:latin typeface="Arial"/>
                <a:cs typeface="Arial"/>
              </a:rPr>
              <a:t>4-AMALIY MASHGʻULOT</a:t>
            </a:r>
            <a:endParaRPr lang="uz-Latn-UZ" sz="1600" dirty="0"/>
          </a:p>
        </p:txBody>
      </p:sp>
      <p:sp>
        <p:nvSpPr>
          <p:cNvPr id="6" name="Shape 6"/>
          <p:cNvSpPr/>
          <p:nvPr/>
        </p:nvSpPr>
        <p:spPr>
          <a:xfrm>
            <a:off x="809625" y="1428750"/>
            <a:ext cx="5524500" cy="2190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uz-Latn-UZ" sz="3400" b="1" i="0" dirty="0">
                <a:solidFill>
                  <a:srgbClr val="FFFFFF"/>
                </a:solidFill>
                <a:latin typeface="Arial"/>
                <a:cs typeface="Arial"/>
              </a:rPr>
              <a:t>Quritilgan meva va sabzavotlarga ishlov berish texnologiyasi</a:t>
            </a:r>
            <a:endParaRPr lang="uz-Latn-UZ" sz="3400" dirty="0"/>
          </a:p>
        </p:txBody>
      </p:sp>
      <p:sp>
        <p:nvSpPr>
          <p:cNvPr id="7" name="Shape 7"/>
          <p:cNvSpPr/>
          <p:nvPr/>
        </p:nvSpPr>
        <p:spPr>
          <a:xfrm>
            <a:off x="809625" y="371475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CFE3CB"/>
                </a:solidFill>
                <a:latin typeface="Arial"/>
                <a:cs typeface="Arial"/>
              </a:rPr>
              <a:t>Fan: Qishloq xoʻjalik mahsulotlarini saqlash va dastlabki ishlash texnologiyasi</a:t>
            </a:r>
            <a:endParaRPr lang="uz-Latn-UZ" sz="1600" dirty="0"/>
          </a:p>
        </p:txBody>
      </p:sp>
      <p:sp>
        <p:nvSpPr>
          <p:cNvPr id="8" name="Shape 8"/>
          <p:cNvSpPr/>
          <p:nvPr/>
        </p:nvSpPr>
        <p:spPr>
          <a:xfrm>
            <a:off x="809625" y="44767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uz-Latn-UZ" sz="1500" b="0" i="0" dirty="0">
                <a:solidFill>
                  <a:srgbClr val="CFE3CB"/>
                </a:solidFill>
                <a:latin typeface="Arial"/>
                <a:cs typeface="Arial"/>
              </a:rPr>
              <a:t>Oʻqituvchi: ______________________</a:t>
            </a:r>
            <a:endParaRPr lang="uz-Latn-UZ" sz="1500" dirty="0"/>
          </a:p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CFE3CB"/>
                </a:solidFill>
                <a:latin typeface="Arial"/>
                <a:cs typeface="Arial"/>
              </a:rPr>
              <a:t>Guruh: ________     Sana: ________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6477000" y="1047750"/>
            <a:ext cx="5334000" cy="3429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262062"/>
            <a:ext cx="5143500" cy="3000375"/>
          </a:xfrm>
          <a:prstGeom prst="rect">
            <a:avLst/>
          </a:prstGeom>
        </p:spPr>
      </p:pic>
      <p:sp>
        <p:nvSpPr>
          <p:cNvPr id="11" name="Shape 11"/>
          <p:cNvSpPr/>
          <p:nvPr/>
        </p:nvSpPr>
        <p:spPr>
          <a:xfrm>
            <a:off x="571500" y="6238875"/>
            <a:ext cx="11049000" cy="476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9FC59A"/>
                </a:solidFill>
                <a:latin typeface="Arial"/>
                <a:cs typeface="Arial"/>
              </a:rPr>
              <a:t>Mayiz • Oʻrik qoqi • Olxoʻri qoqi • Olma qoqi • Anjir • Quritilgan sabzavotlar</a:t>
            </a:r>
            <a:endParaRPr lang="uz-Latn-UZ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Mashgʻulotning maqsadi, jihozlar va rejasi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619750" cy="2571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47750"/>
            <a:ext cx="76200" cy="25717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52450" y="1123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Mashgʻulotning maqsadi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552450" y="1466850"/>
            <a:ext cx="5372100" cy="2095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Quritilgan meva va sabzavotlarga ishlov berishning texnologik bosqichlarini oʻrganish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Mahsulot sifatini organoleptik va laboratoriya usulida baholashni oʻrganish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Namlik, quruq mahsulot chiqishi va quritish koeffitsientini hisoblashni oʻzlashtirish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6191250" y="1047750"/>
            <a:ext cx="5619750" cy="2571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191250" y="1047750"/>
            <a:ext cx="76200" cy="25717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362700" y="1123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Kerakli jihozlar va materiallar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6362700" y="1466850"/>
            <a:ext cx="5372100" cy="2095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Quritilgan mahsulot namunalari (mayiz, oʻrik qoqi, olxoʻri, olma, sabzavotlar)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Analitik tarozi, quritish shkafi (100–105 °C), byukslar, eksikator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Lupa, elaklar, chinni kosacha, pinset, oq qogʻoz, hisob-kitob jadvallari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381000" y="3810000"/>
            <a:ext cx="1143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000" b="1" i="0" dirty="0">
                <a:solidFill>
                  <a:srgbClr val="1E5631"/>
                </a:solidFill>
                <a:latin typeface="Arial"/>
                <a:cs typeface="Arial"/>
              </a:rPr>
              <a:t>Mashgʻulot rejasi</a:t>
            </a:r>
            <a:endParaRPr lang="uz-Latn-UZ" sz="2000" dirty="0"/>
          </a:p>
        </p:txBody>
      </p:sp>
      <p:sp>
        <p:nvSpPr>
          <p:cNvPr id="14" name="Shape 14"/>
          <p:cNvSpPr/>
          <p:nvPr/>
        </p:nvSpPr>
        <p:spPr>
          <a:xfrm>
            <a:off x="381000" y="4191000"/>
            <a:ext cx="561975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495300" y="4314825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495300" y="4314825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971550" y="4191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Nazariy qism: assortiment, sifat koʻrsatkichlari, ishlov berish bosqichlari</a:t>
            </a:r>
            <a:endParaRPr lang="uz-Latn-UZ" sz="1500" dirty="0"/>
          </a:p>
        </p:txBody>
      </p:sp>
      <p:sp>
        <p:nvSpPr>
          <p:cNvPr id="18" name="Shape 18"/>
          <p:cNvSpPr/>
          <p:nvPr/>
        </p:nvSpPr>
        <p:spPr>
          <a:xfrm>
            <a:off x="6191250" y="4191000"/>
            <a:ext cx="561975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6305550" y="4314825"/>
            <a:ext cx="361950" cy="3619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0" name="Shape 20"/>
          <p:cNvSpPr/>
          <p:nvPr/>
        </p:nvSpPr>
        <p:spPr>
          <a:xfrm>
            <a:off x="6305550" y="4314825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6781800" y="4191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1-topshiriq: namunalarni organoleptik baholash</a:t>
            </a:r>
            <a:endParaRPr lang="uz-Latn-UZ" sz="1500" dirty="0"/>
          </a:p>
        </p:txBody>
      </p:sp>
      <p:sp>
        <p:nvSpPr>
          <p:cNvPr id="22" name="Shape 22"/>
          <p:cNvSpPr/>
          <p:nvPr/>
        </p:nvSpPr>
        <p:spPr>
          <a:xfrm>
            <a:off x="381000" y="4933950"/>
            <a:ext cx="561975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495300" y="5057775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4" name="Shape 24"/>
          <p:cNvSpPr/>
          <p:nvPr/>
        </p:nvSpPr>
        <p:spPr>
          <a:xfrm>
            <a:off x="495300" y="5057775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uz-Latn-UZ" sz="1600" dirty="0"/>
          </a:p>
        </p:txBody>
      </p:sp>
      <p:sp>
        <p:nvSpPr>
          <p:cNvPr id="25" name="Shape 25"/>
          <p:cNvSpPr/>
          <p:nvPr/>
        </p:nvSpPr>
        <p:spPr>
          <a:xfrm>
            <a:off x="971550" y="4933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2-topshiriq: quritilgan mahsulot namligini aniqlash</a:t>
            </a:r>
            <a:endParaRPr lang="uz-Latn-UZ" sz="1500" dirty="0"/>
          </a:p>
        </p:txBody>
      </p:sp>
      <p:sp>
        <p:nvSpPr>
          <p:cNvPr id="26" name="Shape 26"/>
          <p:cNvSpPr/>
          <p:nvPr/>
        </p:nvSpPr>
        <p:spPr>
          <a:xfrm>
            <a:off x="6191250" y="4933950"/>
            <a:ext cx="561975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7" name="Shape 27"/>
          <p:cNvSpPr/>
          <p:nvPr/>
        </p:nvSpPr>
        <p:spPr>
          <a:xfrm>
            <a:off x="6305550" y="5057775"/>
            <a:ext cx="361950" cy="3619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8" name="Shape 28"/>
          <p:cNvSpPr/>
          <p:nvPr/>
        </p:nvSpPr>
        <p:spPr>
          <a:xfrm>
            <a:off x="6305550" y="5057775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uz-Latn-UZ" sz="1600" dirty="0"/>
          </a:p>
        </p:txBody>
      </p:sp>
      <p:sp>
        <p:nvSpPr>
          <p:cNvPr id="29" name="Shape 29"/>
          <p:cNvSpPr/>
          <p:nvPr/>
        </p:nvSpPr>
        <p:spPr>
          <a:xfrm>
            <a:off x="6781800" y="4933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3-topshiriq: quruq mahsulot chiqishi va quritish koeffitsientini hisoblash</a:t>
            </a:r>
            <a:endParaRPr lang="uz-Latn-UZ" sz="1500" dirty="0"/>
          </a:p>
        </p:txBody>
      </p:sp>
      <p:sp>
        <p:nvSpPr>
          <p:cNvPr id="30" name="Shape 30"/>
          <p:cNvSpPr/>
          <p:nvPr/>
        </p:nvSpPr>
        <p:spPr>
          <a:xfrm>
            <a:off x="381000" y="5676900"/>
            <a:ext cx="1143000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1" name="Shape 31"/>
          <p:cNvSpPr/>
          <p:nvPr/>
        </p:nvSpPr>
        <p:spPr>
          <a:xfrm>
            <a:off x="495300" y="5800725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2" name="Shape 32"/>
          <p:cNvSpPr/>
          <p:nvPr/>
        </p:nvSpPr>
        <p:spPr>
          <a:xfrm>
            <a:off x="495300" y="5800725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uz-Latn-UZ" sz="1600" dirty="0"/>
          </a:p>
        </p:txBody>
      </p:sp>
      <p:sp>
        <p:nvSpPr>
          <p:cNvPr id="33" name="Shape 33"/>
          <p:cNvSpPr/>
          <p:nvPr/>
        </p:nvSpPr>
        <p:spPr>
          <a:xfrm>
            <a:off x="971550" y="5676900"/>
            <a:ext cx="10763250" cy="609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Natijalarni rasmiylashtirish, xulosa va nazorat savollari</a:t>
            </a:r>
            <a:endParaRPr lang="uz-Latn-UZ" sz="1500" dirty="0"/>
          </a:p>
        </p:txBody>
      </p:sp>
      <p:sp>
        <p:nvSpPr>
          <p:cNvPr id="34" name="Shape 34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5" name="Shape 35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36" name="Shape 36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</a:t>
            </a:r>
            <a:endParaRPr lang="uz-Latn-UZ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Quritilgan meva va sabzavotlar haqida umumiy tushuncha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Quritish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— mahsulotdan suvni bugʻlatib, namlikni mikroorganizmlar rivojlana olmaydigan darajaga tushirish usuli.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Mevalar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16–25 %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, sabzavotlar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8–14 %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namlikkacha quritiladi.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Quruq moddalar konsentratsiyasi 4–8 marta ortadi — mahsulot yuqori kaloriyali, uzoq saqlanadigan boʻladi.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Mahsulot hajmi va massasi keskin kamayadi — tashish va saqlash arzonlashadi.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Quyoshda (tabiiy) va sunʼiy (quritgichlarda) quritiladi.</a:t>
            </a:r>
            <a:endParaRPr lang="uz-Latn-UZ" sz="1700" dirty="0"/>
          </a:p>
        </p:txBody>
      </p:sp>
      <p:sp>
        <p:nvSpPr>
          <p:cNvPr id="6" name="Shape 6"/>
          <p:cNvSpPr/>
          <p:nvPr/>
        </p:nvSpPr>
        <p:spPr>
          <a:xfrm>
            <a:off x="6286500" y="1047750"/>
            <a:ext cx="5524500" cy="3429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195388"/>
            <a:ext cx="5372100" cy="3133725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381000" y="4953000"/>
            <a:ext cx="11430000" cy="14287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381000" y="4953000"/>
            <a:ext cx="57150" cy="14287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533400" y="4953000"/>
            <a:ext cx="11220450" cy="1428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Quyoshda quritilgan mahsulot tarkibida chang, qum, band, mayda tosh, nobop mevalar va zararkunandalar boʻlishi mumkin. Shu sababli u isteʼmolga yoki saqlashga yuborishdan oldin albatta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ishlov berish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(tozalash, yuvish, saralash, qadoqlash) bosqichlaridan oʻtkaziladi.</a:t>
            </a:r>
            <a:endParaRPr lang="uz-Latn-UZ" sz="1600" dirty="0"/>
          </a:p>
        </p:txBody>
      </p:sp>
      <p:sp>
        <p:nvSpPr>
          <p:cNvPr id="11" name="Shape 11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3" name="Shape 13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3</a:t>
            </a:r>
            <a:endParaRPr lang="uz-Latn-UZ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Quritilgan meva va sabzavotlar assortimenti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3867150"/>
        </p:xfrm>
        <a:graphic>
          <a:graphicData uri="http://schemas.openxmlformats.org/drawingml/2006/table">
            <a:tbl>
              <a:tblPr firstRow="1" bandRow="1"/>
              <a:tblGrid>
                <a:gridCol w="2190750"/>
                <a:gridCol w="2857500"/>
                <a:gridCol w="6381750"/>
              </a:tblGrid>
              <a:tr h="552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Mahsulot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Xomashyo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Asosiy turlari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Mayiz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Uzum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Kishmish (urugʻsiz, oq va qora), sabza (oltingugurtlangan oq), soyagi (soyada quritilgan), avlon (urugʻli)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Oʻrik mahsulotlari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Oʻrik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Turshak (danagi bilan butun), kaysa (danagi olingan butun), qoqi (pallalar), ashtak (danagi oʻrniga magʻzi solingan)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Olxoʻri qoqi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Olxoʻri (Vengerka va b.)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Danakli va danaksiz; bugʻlab yoki ishqorli eritmada ishlov berib quritilgan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Olma va nok qoqisi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Olma, nok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Halqa, boʻlak, chorak; poʻstli yoki poʻstsiz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Boshqa mevalar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Anjir, jiyda, shaftoli, olcha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Butun yoki boʻlaklangan holda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Quritilgan sabzavotlar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Sabzi, piyoz, karam, kartoshka, qalampir, koʻkatlar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Kubik, somoncha, halqa, yaproq, kukun shaklida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5086350"/>
            <a:ext cx="11430000" cy="7620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086350"/>
            <a:ext cx="57150" cy="7620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086350"/>
            <a:ext cx="1122045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Oʻzbekiston quritilgan meva (ayniqsa mayiz va oʻrik qoqisi) yetishtirish va eksport qilish boʻyicha yetakchi mamlakatlardan biridir.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1" name="Shape 1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4</a:t>
            </a:r>
            <a:endParaRPr lang="uz-Latn-UZ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Kimyoviy tarkib va namlik oʻzgarishi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6953250" cy="2826913"/>
        </p:xfrm>
        <a:graphic>
          <a:graphicData uri="http://schemas.openxmlformats.org/drawingml/2006/table">
            <a:tbl>
              <a:tblPr firstRow="1" bandRow="1"/>
              <a:tblGrid>
                <a:gridCol w="1809750"/>
                <a:gridCol w="952500"/>
                <a:gridCol w="1333500"/>
                <a:gridCol w="1333500"/>
                <a:gridCol w="1524000"/>
              </a:tblGrid>
              <a:tr h="5409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Mahsulot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Suv,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Uglevodlar,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Energiya, kkal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Oʻziga xos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Mayiz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16–19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64–68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270–300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Qand, temir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Oʻrik qoqi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18–20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50–55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230–240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Kaliy, karotin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Olxoʻri qoqi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24–25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55–58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230–240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Kletchatka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Olma qoqi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18–20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58–62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230–250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Pektin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 (quruq)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12–14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60–65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270–300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Karotin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3912763"/>
            <a:ext cx="695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200" b="0" i="1" dirty="0">
                <a:solidFill>
                  <a:srgbClr val="6B7B6E"/>
                </a:solidFill>
                <a:latin typeface="Arial"/>
                <a:cs typeface="Arial"/>
              </a:rPr>
              <a:t>100 g mahsulotga; oʻrtacha (taxminiy) maʼlumotlar.</a:t>
            </a:r>
            <a:endParaRPr lang="uz-Latn-UZ" sz="12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188118"/>
            <a:ext cx="4286250" cy="2481513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381000" y="4381500"/>
            <a:ext cx="5619750" cy="20002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381000" y="4381500"/>
            <a:ext cx="57150" cy="20002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533400" y="4381500"/>
            <a:ext cx="5410200" cy="2000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Quritishda suv kamayadi, qandlar, mineral moddalar va kletchatka miqdori nisbatan ortadi. Vitamin C esa sezilarli yoʻqoladi (ayniqsa quyoshda quritishda).</a:t>
            </a:r>
            <a:endParaRPr lang="uz-Latn-UZ" sz="1600" dirty="0"/>
          </a:p>
        </p:txBody>
      </p:sp>
      <p:sp>
        <p:nvSpPr>
          <p:cNvPr id="11" name="Shape 11"/>
          <p:cNvSpPr/>
          <p:nvPr/>
        </p:nvSpPr>
        <p:spPr>
          <a:xfrm>
            <a:off x="6191250" y="4381500"/>
            <a:ext cx="5619750" cy="200025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191250" y="4381500"/>
            <a:ext cx="57150" cy="20002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3" name="Shape 13"/>
          <p:cNvSpPr/>
          <p:nvPr/>
        </p:nvSpPr>
        <p:spPr>
          <a:xfrm>
            <a:off x="6343650" y="4381500"/>
            <a:ext cx="5410200" cy="2000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Namlik meʼyordan yuqori boʻlsa — magʻorlash va bijgʻish; past boʻlsa — mahsulot qattiqlashadi, mayda boʻlaklarga sinadi. Shu sababli ishlov berishda namlik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meʼyorlanadi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.</a:t>
            </a:r>
            <a:endParaRPr lang="uz-Latn-UZ" sz="1600" dirty="0"/>
          </a:p>
        </p:txBody>
      </p:sp>
      <p:sp>
        <p:nvSpPr>
          <p:cNvPr id="14" name="Shape 14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6" name="Shape 16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5</a:t>
            </a:r>
            <a:endParaRPr lang="uz-Latn-UZ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Quritilgan mahsulot sifat koʻrsatkichlari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4495343"/>
        </p:xfrm>
        <a:graphic>
          <a:graphicData uri="http://schemas.openxmlformats.org/drawingml/2006/table">
            <a:tbl>
              <a:tblPr firstRow="1" bandRow="1"/>
              <a:tblGrid>
                <a:gridCol w="2857500"/>
                <a:gridCol w="5334000"/>
                <a:gridCol w="3238500"/>
              </a:tblGrid>
              <a:tr h="552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Koʻrsatkich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Talab (umumiy)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Aniqlash usuli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Tashqi koʻrinish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Mevalar butun, bir xil oʻlchamda, yopishib qolmagan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Koʻz bilan, oq qogʻozda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38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Rangi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Shu tur va navga xos, bir xil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Koʻz bilan, kunduzgi yorugʻlikda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Taʼmi va hidi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Xos, begona taʼm va hidsiz, bijgʻimagan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Organoleptik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Konsistensiya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Elastik, ezilganda yopishqoq emas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Barmoq bilan ezib koʻrish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7138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Namlik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Meʼyordan oshmasligi kerak (mayiz maks. 19 %, oʻrik maks. 20 %, olxoʻri maks. 25 %)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Quritish shkafida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38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Begona aralashmalar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Mineral aralashma (qum) va zararkunandalar boʻlmasligi kerak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Tortish, lupa bilan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7138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Nuqsonli mevalar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Kuygan, magʻorlagan, chala quritilgan mevalar meʼyorda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Saralab tortish, % hisoblash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5600243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200" b="0" i="1" dirty="0">
                <a:solidFill>
                  <a:srgbClr val="6B7B6E"/>
                </a:solidFill>
                <a:latin typeface="Arial"/>
                <a:cs typeface="Arial"/>
              </a:rPr>
              <a:t>Aniq meʼyorlar mahsulot turi va navi boʻyicha amaldagi standartlarda belgilanadi; jadvalda taxminiy qiymatlar keltirilgan.</a:t>
            </a:r>
            <a:endParaRPr lang="uz-Latn-UZ" sz="1200" dirty="0"/>
          </a:p>
        </p:txBody>
      </p:sp>
      <p:sp>
        <p:nvSpPr>
          <p:cNvPr id="7" name="Shape 7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9" name="Shape 9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6</a:t>
            </a:r>
            <a:endParaRPr lang="uz-Latn-UZ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Ishlov berishning umumiy texnologik sxemasi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00125"/>
            <a:ext cx="11430000" cy="200025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81000" y="3190875"/>
            <a:ext cx="3714750" cy="3190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3190875"/>
            <a:ext cx="76200" cy="3190875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52450" y="3267075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Tayyorlov bosqichi</a:t>
            </a:r>
            <a:endParaRPr lang="uz-Latn-UZ" sz="1800" dirty="0"/>
          </a:p>
        </p:txBody>
      </p:sp>
      <p:sp>
        <p:nvSpPr>
          <p:cNvPr id="9" name="Shape 9"/>
          <p:cNvSpPr/>
          <p:nvPr/>
        </p:nvSpPr>
        <p:spPr>
          <a:xfrm>
            <a:off x="552450" y="3609975"/>
            <a:ext cx="3467100" cy="2714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Partiyani qabul qilish, oʻrtacha namuna olish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Namlik, ifloslik, zararkunanda bilan zararlanishni aniqlash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Navlar va sifat boʻyicha saralash</a:t>
            </a:r>
            <a:endParaRPr lang="uz-Latn-UZ" sz="1500" dirty="0"/>
          </a:p>
        </p:txBody>
      </p:sp>
      <p:sp>
        <p:nvSpPr>
          <p:cNvPr id="10" name="Shape 10"/>
          <p:cNvSpPr/>
          <p:nvPr/>
        </p:nvSpPr>
        <p:spPr>
          <a:xfrm>
            <a:off x="4238625" y="3190875"/>
            <a:ext cx="3714750" cy="3190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4238625" y="3190875"/>
            <a:ext cx="76200" cy="319087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4410075" y="3267075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Asosiy ishlov</a:t>
            </a:r>
            <a:endParaRPr lang="uz-Latn-UZ" sz="1800" dirty="0"/>
          </a:p>
        </p:txBody>
      </p:sp>
      <p:sp>
        <p:nvSpPr>
          <p:cNvPr id="13" name="Shape 13"/>
          <p:cNvSpPr/>
          <p:nvPr/>
        </p:nvSpPr>
        <p:spPr>
          <a:xfrm>
            <a:off x="4410075" y="3609975"/>
            <a:ext cx="3467100" cy="2714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Mexanik tozalash: havo oqimi, elak, magnit separator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Iliq suvda yuvish va yuzaki namlikni ketkazish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Turga qarab: sulfitatsiya, bugʻlash, yogʻlash, glazurlash</a:t>
            </a:r>
            <a:endParaRPr lang="uz-Latn-UZ" sz="1500" dirty="0"/>
          </a:p>
        </p:txBody>
      </p:sp>
      <p:sp>
        <p:nvSpPr>
          <p:cNvPr id="14" name="Shape 14"/>
          <p:cNvSpPr/>
          <p:nvPr/>
        </p:nvSpPr>
        <p:spPr>
          <a:xfrm>
            <a:off x="8096250" y="3190875"/>
            <a:ext cx="3714750" cy="3190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8096250" y="3190875"/>
            <a:ext cx="76200" cy="3190875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8267700" y="3267075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8B1E3F"/>
                </a:solidFill>
                <a:latin typeface="Arial"/>
                <a:cs typeface="Arial"/>
              </a:rPr>
              <a:t>Yakuniy bosqich</a:t>
            </a:r>
            <a:endParaRPr lang="uz-Latn-UZ" sz="1800" dirty="0"/>
          </a:p>
        </p:txBody>
      </p:sp>
      <p:sp>
        <p:nvSpPr>
          <p:cNvPr id="17" name="Shape 17"/>
          <p:cNvSpPr/>
          <p:nvPr/>
        </p:nvSpPr>
        <p:spPr>
          <a:xfrm>
            <a:off x="8267700" y="3609975"/>
            <a:ext cx="3467100" cy="2714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Kalibrlash va qoʻlda inspeksiya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Qadoqlash: karton quti, polietilen qop, vakuum paket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Markalash va salqin, quruq omborda saqlash</a:t>
            </a:r>
            <a:endParaRPr lang="uz-Latn-UZ" sz="1500" dirty="0"/>
          </a:p>
        </p:txBody>
      </p:sp>
      <p:sp>
        <p:nvSpPr>
          <p:cNvPr id="18" name="Shape 18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20" name="Shape 20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7</a:t>
            </a:r>
            <a:endParaRPr lang="uz-Latn-UZ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Ishlov berishda qoʻllaniladigan uskunalar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4365940"/>
        </p:xfrm>
        <a:graphic>
          <a:graphicData uri="http://schemas.openxmlformats.org/drawingml/2006/table">
            <a:tbl>
              <a:tblPr firstRow="1" bandRow="1"/>
              <a:tblGrid>
                <a:gridCol w="3143250"/>
                <a:gridCol w="4953000"/>
                <a:gridCol w="3333750"/>
              </a:tblGrid>
              <a:tr h="457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Jarayon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Uskuna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Vazifasi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Dastlabki tozalash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Havo-elak separatori, aspirator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Chang, yengil aralashma va qumni ajratish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Metall aralashmalarni ajratish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Magnit separator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Metall boʻlaklarini ushlab qolish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Band ajratish (mayiz)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Bandajratgich mashina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Mayiz donalarini bandlardan ajratish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Kalibrlash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Tebranuvchi elakli kalibrlash mashinasi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Oʻlcham boʻyicha fraksiyalarga ajratish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Yuvish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Barabanli yoki ventilyatorli yuvish mashinasi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Changni, qumni yuvib tushirish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Suvsizlantirish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Sentrifuga, havo puflash tunneli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Yuzaki namlikni ketkazish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Inspeksiya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Inspeksion konveyer (lenta)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Nuqsonli mevalarni qoʻlda ajratish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Qadoqlash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Dozalovchi-qadoqlovchi avtomat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Tortish, qadoqlash, markalash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8" name="Shape 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8</a:t>
            </a:r>
            <a:endParaRPr lang="uz-Latn-UZ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Mayizga ishlov berish texnologiyasi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00125"/>
            <a:ext cx="11430000" cy="200025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81000" y="3190875"/>
            <a:ext cx="5715000" cy="3238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Qabul qilingan mayiz navi, rangi va namligi boʻyicha partiyalarga ajratiladi.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Havo oqimi va elaklarda chang, qum, barglardan tozalanadi; bandajratgichda bandlardan ajratiladi.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Iliq suvda 2–3 marta yuviladi, soʻngra yuzaki namlik sentrifuga yoki havo bilan ketkaziladi.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Mayiz yopishmasligi va yaltirashi uchun oz miqdorda oʻsimlik moyi bilan yogʻlanadi.</a:t>
            </a:r>
            <a:endParaRPr lang="uz-Latn-UZ" sz="1600" dirty="0"/>
          </a:p>
        </p:txBody>
      </p:sp>
      <p:sp>
        <p:nvSpPr>
          <p:cNvPr id="7" name="Shape 7"/>
          <p:cNvSpPr/>
          <p:nvPr/>
        </p:nvSpPr>
        <p:spPr>
          <a:xfrm>
            <a:off x="6286500" y="3190875"/>
            <a:ext cx="5524500" cy="15240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6286500" y="3190875"/>
            <a:ext cx="57150" cy="1524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6438900" y="3190875"/>
            <a:ext cx="5314950" cy="152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Yuvilgan mayizning namligi oshadi — u meʼyoriy namlikkacha (taxminan 17–19 %) qayta quritilishi kerak, aks holda saqlashda magʻorlaydi.</a:t>
            </a:r>
            <a:endParaRPr lang="uz-Latn-UZ" sz="1600" dirty="0"/>
          </a:p>
        </p:txBody>
      </p:sp>
      <p:sp>
        <p:nvSpPr>
          <p:cNvPr id="10" name="Shape 10"/>
          <p:cNvSpPr/>
          <p:nvPr/>
        </p:nvSpPr>
        <p:spPr>
          <a:xfrm>
            <a:off x="6286500" y="4857750"/>
            <a:ext cx="5524500" cy="15240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286500" y="4857750"/>
            <a:ext cx="57150" cy="15240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438900" y="4857750"/>
            <a:ext cx="5314950" cy="152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Inspeksion lentada qolgan bandlar, tosh, kuygan va magʻorlagan donalar qoʻlda terib olinadi. Tayyor mayiz 5–10 kg li qutilarga yoki isteʼmol qadoqlariga joylanadi.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5" name="Shape 1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9</a:t>
            </a:r>
            <a:endParaRPr lang="uz-Latn-UZ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Oʻrik, olxoʻri va olma qoqilariga ishlov berish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37147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47750"/>
            <a:ext cx="76200" cy="34290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52450" y="112395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Oʻrik qoqisi, kaysa, turshak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552450" y="1466850"/>
            <a:ext cx="3467100" cy="2952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Saralash: rangi, oʻlchami, butunligi boʻyicha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Changdan tozalash, iliq suvda yuvish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Zarur boʻlsa sulfitatsiya — rangni saqlash uchun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Kalibrlash, inspeksiya, qadoqlash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4238625" y="1047750"/>
            <a:ext cx="37147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4238625" y="1047750"/>
            <a:ext cx="76200" cy="3429000"/>
          </a:xfrm>
          <a:prstGeom prst="rect">
            <a:avLst/>
          </a:prstGeom>
          <a:solidFill>
            <a:srgbClr val="4A2E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4410075" y="112395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4A2E40"/>
                </a:solidFill>
                <a:latin typeface="Arial"/>
                <a:cs typeface="Arial"/>
              </a:rPr>
              <a:t>Olxoʻri qoqisi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4410075" y="1466850"/>
            <a:ext cx="3467100" cy="2952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Saralash va kalibrlash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Bugʻ yoki issiq suvda qisqa ishlov — yumshatish va zararsizlantirish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Yuzasini glitserin yoki qand sharbati bilan yaltiratish (glazurlash)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Sovutish, qadoqlash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8096250" y="1047750"/>
            <a:ext cx="37147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8096250" y="1047750"/>
            <a:ext cx="76200" cy="34290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8267700" y="112395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Olma, nok va boshqalar</a:t>
            </a:r>
            <a:endParaRPr lang="uz-Latn-UZ" sz="1800" dirty="0"/>
          </a:p>
        </p:txBody>
      </p:sp>
      <p:sp>
        <p:nvSpPr>
          <p:cNvPr id="16" name="Shape 16"/>
          <p:cNvSpPr/>
          <p:nvPr/>
        </p:nvSpPr>
        <p:spPr>
          <a:xfrm>
            <a:off x="8267700" y="1466850"/>
            <a:ext cx="3467100" cy="2952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Saralash, chang va qoldiqlardan tozalash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Namligi yuqori boʻlsa — quritgichda qayta quritish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Qorayishga qarshi oltingugurtlash yoki askorbin kislota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Germetik qadoqlash</a:t>
            </a:r>
            <a:endParaRPr lang="uz-Latn-UZ" sz="1500" dirty="0"/>
          </a:p>
        </p:txBody>
      </p:sp>
      <p:sp>
        <p:nvSpPr>
          <p:cNvPr id="17" name="Shape 17"/>
          <p:cNvSpPr/>
          <p:nvPr/>
        </p:nvSpPr>
        <p:spPr>
          <a:xfrm>
            <a:off x="381000" y="4667250"/>
            <a:ext cx="11430000" cy="171450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381000" y="4667250"/>
            <a:ext cx="57150" cy="17145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533400" y="4667250"/>
            <a:ext cx="11220450" cy="1714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Ishlov berish rejimi (harorat, vaqt, eritma konsentratsiyasi) mahsulot turi va standart talablariga qarab texnologik yoʻriqnomada belgilanadi. Ishlov berishdan keyin mahsulot namligi albatta qayta tekshiriladi.</a:t>
            </a:r>
            <a:endParaRPr lang="uz-Latn-UZ" sz="1600" dirty="0"/>
          </a:p>
        </p:txBody>
      </p:sp>
      <p:sp>
        <p:nvSpPr>
          <p:cNvPr id="20" name="Shape 20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1" name="Shape 21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22" name="Shape 22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10</a:t>
            </a:r>
            <a:endParaRPr lang="uz-Latn-UZ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Sulfitatsiya (oltingugurtlash)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02632"/>
            <a:ext cx="6477000" cy="4090737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7048500" y="1047750"/>
            <a:ext cx="4762500" cy="4000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Oq mayiz (sabza), oʻrik qoqisi, olma va nok qoqisi oltingugurt (IV) oksidi —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SO₂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bilan ishlanadi.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SO₂ fermentativ qorayishni toʻxtatadi, mahsulot tiniq, chiroyli rangini saqlaydi.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Mikroorganizmlar va zararkunandalar rivojini sekinlashtiradi.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Oltingugurt sarfi va ishlov muddati mahsulot turiga qarab belgilanadi (taxminan 1 t ga 2–4 kg, 2–4 soat).</a:t>
            </a:r>
            <a:endParaRPr lang="uz-Latn-UZ" sz="1600" dirty="0"/>
          </a:p>
        </p:txBody>
      </p:sp>
      <p:sp>
        <p:nvSpPr>
          <p:cNvPr id="7" name="Shape 7"/>
          <p:cNvSpPr/>
          <p:nvPr/>
        </p:nvSpPr>
        <p:spPr>
          <a:xfrm>
            <a:off x="381000" y="523875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DF1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5238750"/>
            <a:ext cx="57150" cy="11430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533400" y="5238750"/>
            <a:ext cx="11220450" cy="1143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Xavfsizlik: SO₂ — zaharli gaz. Kamera germetik boʻlishi, ishdan keyin yaxshi shamollatilishi kerak. Mahsulotdagi qoldiq SO₂ miqdori sanitariya meʼyorlari bilan qatʼiy cheklanadi.</a:t>
            </a:r>
            <a:endParaRPr lang="uz-Latn-UZ" sz="1600" dirty="0"/>
          </a:p>
        </p:txBody>
      </p:sp>
      <p:sp>
        <p:nvSpPr>
          <p:cNvPr id="10" name="Shape 10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2" name="Shape 12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11</a:t>
            </a:r>
            <a:endParaRPr lang="uz-Latn-UZ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Quritilgan sabzavotlarga ishlov berish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2994340"/>
        </p:xfrm>
        <a:graphic>
          <a:graphicData uri="http://schemas.openxmlformats.org/drawingml/2006/table">
            <a:tbl>
              <a:tblPr firstRow="1" bandRow="1"/>
              <a:tblGrid>
                <a:gridCol w="1905000"/>
                <a:gridCol w="3619500"/>
                <a:gridCol w="3143250"/>
                <a:gridCol w="1333500"/>
                <a:gridCol w="1428750"/>
              </a:tblGrid>
              <a:tr h="457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Sabzavot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Tayyorlash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Blanshirovka / ishlov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Namlik,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Shakli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Yuvish, tozalash, kesish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Bugʻda 5–8 daqiqa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maks. 14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Kubik, somoncha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Piyoz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Poʻstini tozalash, halqa kesish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Blanshirovka qilinmaydi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maks. 12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Halqa, yaproq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Karam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Ustki barglar, oʻzak olinadi, toʻgʻraladi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Bugʻda 2–3 daqiqa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maks. 14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Somoncha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Kartoshka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Yuvish, tozalash, kesish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Bugʻda / qaynoq suvda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maks. 12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Kubik, plastinka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Koʻkatlar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Saralash, yuvish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Blanshirovka qilinmaydi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maks. 12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Barg, kukun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408019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200" b="0" i="1" dirty="0">
                <a:solidFill>
                  <a:srgbClr val="6B7B6E"/>
                </a:solidFill>
                <a:latin typeface="Arial"/>
                <a:cs typeface="Arial"/>
              </a:rPr>
              <a:t>Rejim va meʼyorlar taxminiy; aniq qiymatlar amaldagi standart va yoʻriqnomalarda.</a:t>
            </a:r>
            <a:endParaRPr lang="uz-Latn-UZ" sz="1200" dirty="0"/>
          </a:p>
        </p:txBody>
      </p:sp>
      <p:sp>
        <p:nvSpPr>
          <p:cNvPr id="7" name="Shape 7"/>
          <p:cNvSpPr/>
          <p:nvPr/>
        </p:nvSpPr>
        <p:spPr>
          <a:xfrm>
            <a:off x="381000" y="4381500"/>
            <a:ext cx="5619750" cy="20002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4381500"/>
            <a:ext cx="57150" cy="20002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533400" y="4381500"/>
            <a:ext cx="5410200" cy="2000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Quritilgan sabzavotlar odatda tayyor holatda chiqadi: ishlov berish asosan saralash, mayda zarrachalarni elash, magnit separatsiya, inspeksiya va germetik qadoqlashdan iborat.</a:t>
            </a:r>
            <a:endParaRPr lang="uz-Latn-UZ" sz="1600" dirty="0"/>
          </a:p>
        </p:txBody>
      </p:sp>
      <p:sp>
        <p:nvSpPr>
          <p:cNvPr id="10" name="Shape 10"/>
          <p:cNvSpPr/>
          <p:nvPr/>
        </p:nvSpPr>
        <p:spPr>
          <a:xfrm>
            <a:off x="6191250" y="4381500"/>
            <a:ext cx="5619750" cy="200025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191250" y="4381500"/>
            <a:ext cx="57150" cy="200025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343650" y="4381500"/>
            <a:ext cx="5410200" cy="2000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Sabzavotlar gigroskopik — havodan namlikni tez tortadi. Ular namlik oʻtkazmaydigan (polietilen, metall, shisha) germetik idishlarda qadoqlanadi.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5" name="Shape 1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12</a:t>
            </a:r>
            <a:endParaRPr lang="uz-Latn-UZ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Qadoqlash va saqlash rejimlari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28575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095500"/>
                <a:gridCol w="2095500"/>
                <a:gridCol w="4572000"/>
              </a:tblGrid>
              <a:tr h="4762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Mahsulot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Harorat, °C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Havo namligi,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Qadoq va muddat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Mayiz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60–70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Karton quti, qop; 12 oygacha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Oʻrik qoqisi, kaysa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60–70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Karton quti, polietilen qop; 12 oygacha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Olxoʻri qoqisi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60–70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Quti, paket; 6–12 oy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Olma, nok qoqisi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60–65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Germetik paket; 6–12 oy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Quritilgan sabzavotlar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maks. 65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Germetik idish, vakuum paket; 12 oygacha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4095750"/>
            <a:ext cx="5619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4095750"/>
            <a:ext cx="76200" cy="22860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52450" y="4171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Omborga qoʻyiladigan talablar</a:t>
            </a:r>
            <a:endParaRPr lang="uz-Latn-UZ" sz="1800" dirty="0"/>
          </a:p>
        </p:txBody>
      </p:sp>
      <p:sp>
        <p:nvSpPr>
          <p:cNvPr id="9" name="Shape 9"/>
          <p:cNvSpPr/>
          <p:nvPr/>
        </p:nvSpPr>
        <p:spPr>
          <a:xfrm>
            <a:off x="552450" y="4514850"/>
            <a:ext cx="5372100" cy="1809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Toza, quruq, salqin, yaxshi shamollatiladigan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Zararkunandalardan dezinfeksiya qilingan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Hidli mahsulotlardan alohida saqlash</a:t>
            </a:r>
            <a:endParaRPr lang="uz-Latn-UZ" sz="1500" dirty="0"/>
          </a:p>
        </p:txBody>
      </p:sp>
      <p:sp>
        <p:nvSpPr>
          <p:cNvPr id="10" name="Shape 10"/>
          <p:cNvSpPr/>
          <p:nvPr/>
        </p:nvSpPr>
        <p:spPr>
          <a:xfrm>
            <a:off x="6191250" y="4095750"/>
            <a:ext cx="5619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191250" y="4095750"/>
            <a:ext cx="76200" cy="22860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362700" y="4171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Saqlashda nazorat</a:t>
            </a:r>
            <a:endParaRPr lang="uz-Latn-UZ" sz="1800" dirty="0"/>
          </a:p>
        </p:txBody>
      </p:sp>
      <p:sp>
        <p:nvSpPr>
          <p:cNvPr id="13" name="Shape 13"/>
          <p:cNvSpPr/>
          <p:nvPr/>
        </p:nvSpPr>
        <p:spPr>
          <a:xfrm>
            <a:off x="6362700" y="4514850"/>
            <a:ext cx="5372100" cy="1809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Harorat va namlikni muntazam oʻlchash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Davriy namuna olib namlik va zararlanishni tekshirish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Qadoqning butunligini kuzatish</a:t>
            </a:r>
            <a:endParaRPr lang="uz-Latn-UZ" sz="1500" dirty="0"/>
          </a:p>
        </p:txBody>
      </p:sp>
      <p:sp>
        <p:nvSpPr>
          <p:cNvPr id="14" name="Shape 14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6" name="Shape 16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13</a:t>
            </a:r>
            <a:endParaRPr lang="uz-Latn-UZ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Saqlash davridagi nuqsonlar va ularning oldini olish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3733267"/>
        </p:xfrm>
        <a:graphic>
          <a:graphicData uri="http://schemas.openxmlformats.org/drawingml/2006/table">
            <a:tbl>
              <a:tblPr firstRow="1" bandRow="1"/>
              <a:tblGrid>
                <a:gridCol w="2381250"/>
                <a:gridCol w="3810000"/>
                <a:gridCol w="5238750"/>
              </a:tblGrid>
              <a:tr h="514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Nuqson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Sababi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Oldini olish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Magʻorlash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Namlik yuqori, chala quritilgan, yuvilgandan keyin quritilmagan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Namlikni meʼyorlash, past namlikda saqlash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Qandlanish (shakar kristallanishi)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Uzoq saqlash, harorat oʻzgarishi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Barqaror harorat, germetik qadoq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Qorayish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Fermentativ va fermentsiz (melanoidin) reaksiyalar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Sulfitatsiya, past harorat, qisqa saqlash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Zararkunandalar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Kuya (Plodia interpunctella), meva kanasi, qoʻngʻizlar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Ombor dezinfeksiyasi, fumigatsiya, sovuqda saqlash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Bijgʻish, nordon hid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Namlik va harorat yuqori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Saqlash rejimiga rioya qilish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Qattiqlashish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Ortiqcha quritish, quruq havoda ochiq saqlash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Germetik qadoqlash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8" name="Shape 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14</a:t>
            </a:r>
            <a:endParaRPr lang="uz-Latn-UZ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1-topshiriq: namunalarni organoleptik baholash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3067050"/>
        </p:xfrm>
        <a:graphic>
          <a:graphicData uri="http://schemas.openxmlformats.org/drawingml/2006/table">
            <a:tbl>
              <a:tblPr firstRow="1" bandRow="1"/>
              <a:tblGrid>
                <a:gridCol w="3143250"/>
                <a:gridCol w="1238250"/>
                <a:gridCol w="1524000"/>
                <a:gridCol w="1524000"/>
                <a:gridCol w="1524000"/>
                <a:gridCol w="2476500"/>
              </a:tblGrid>
              <a:tr h="438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Koʻrsatkich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Maks. ball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1-namuna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2-namuna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3-namuna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Izoh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Tashqi koʻrinish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Rangi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Taʼmi va hidi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Konsistensiyasi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Tozaligi (aralashmalar)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Jami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4286250"/>
            <a:ext cx="723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476250" y="4343400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476250" y="434340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933450" y="4286250"/>
            <a:ext cx="6610350" cy="476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Namunani oq qogʻozga yupqa qatlam qilib yoying, tashqi koʻrinishi va rangini baholang</a:t>
            </a:r>
            <a:endParaRPr lang="uz-Latn-UZ" sz="1500" dirty="0"/>
          </a:p>
        </p:txBody>
      </p:sp>
      <p:sp>
        <p:nvSpPr>
          <p:cNvPr id="10" name="Shape 10"/>
          <p:cNvSpPr/>
          <p:nvPr/>
        </p:nvSpPr>
        <p:spPr>
          <a:xfrm>
            <a:off x="381000" y="4838700"/>
            <a:ext cx="723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476250" y="4895850"/>
            <a:ext cx="361950" cy="3619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476250" y="489585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933450" y="4838700"/>
            <a:ext cx="6610350" cy="476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Hid va taʼmini aniqlang; barmoq bilan ezib konsistensiyasini tekshiring</a:t>
            </a:r>
            <a:endParaRPr lang="uz-Latn-UZ" sz="1500" dirty="0"/>
          </a:p>
        </p:txBody>
      </p:sp>
      <p:sp>
        <p:nvSpPr>
          <p:cNvPr id="14" name="Shape 14"/>
          <p:cNvSpPr/>
          <p:nvPr/>
        </p:nvSpPr>
        <p:spPr>
          <a:xfrm>
            <a:off x="381000" y="5391150"/>
            <a:ext cx="723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476250" y="5448300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476250" y="544830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933450" y="5391150"/>
            <a:ext cx="6610350" cy="476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Har bir koʻrsatkichni 5 balli tizimda baholab, jadvalni toʻldiring</a:t>
            </a:r>
            <a:endParaRPr lang="uz-Latn-UZ" sz="1500" dirty="0"/>
          </a:p>
        </p:txBody>
      </p:sp>
      <p:sp>
        <p:nvSpPr>
          <p:cNvPr id="18" name="Shape 18"/>
          <p:cNvSpPr/>
          <p:nvPr/>
        </p:nvSpPr>
        <p:spPr>
          <a:xfrm>
            <a:off x="7810500" y="4286250"/>
            <a:ext cx="4000500" cy="15811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7962900" y="4324350"/>
            <a:ext cx="381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1E5631"/>
                </a:solidFill>
                <a:latin typeface="Arial"/>
                <a:cs typeface="Arial"/>
              </a:rPr>
              <a:t>Baholash shkalasi</a:t>
            </a:r>
            <a:endParaRPr lang="uz-Latn-UZ" sz="17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23–25 ball — aʼlo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19–22 ball — yaxshi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15–18 ball — qoniqarli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15 balldan kam — yaroqsiz</a:t>
            </a:r>
            <a:endParaRPr lang="uz-Latn-UZ" sz="1500" dirty="0"/>
          </a:p>
        </p:txBody>
      </p:sp>
      <p:sp>
        <p:nvSpPr>
          <p:cNvPr id="20" name="Shape 20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1" name="Shape 21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22" name="Shape 22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15</a:t>
            </a:r>
            <a:endParaRPr lang="uz-Latn-UZ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2-topshiriq: quritilgan mahsulot namligini aniqlash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132" y="952500"/>
            <a:ext cx="7519737" cy="285750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81000" y="3905250"/>
            <a:ext cx="72390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476250" y="3981450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476250" y="398145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933450" y="3905250"/>
            <a:ext cx="6610350" cy="5143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Quritilgan byuksni tortib (m₀), unga 5 g maydalangan namuna solib tortiladi (m₁)</a:t>
            </a:r>
            <a:endParaRPr lang="uz-Latn-UZ" sz="1500" dirty="0"/>
          </a:p>
        </p:txBody>
      </p:sp>
      <p:sp>
        <p:nvSpPr>
          <p:cNvPr id="10" name="Shape 10"/>
          <p:cNvSpPr/>
          <p:nvPr/>
        </p:nvSpPr>
        <p:spPr>
          <a:xfrm>
            <a:off x="381000" y="4495800"/>
            <a:ext cx="72390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476250" y="4572000"/>
            <a:ext cx="361950" cy="3619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476250" y="457200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933450" y="4495800"/>
            <a:ext cx="6610350" cy="5143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Byuks qopqogʻi ochiq holda shkafda 100–105 °C da 4–6 soat quritiladi</a:t>
            </a:r>
            <a:endParaRPr lang="uz-Latn-UZ" sz="1500" dirty="0"/>
          </a:p>
        </p:txBody>
      </p:sp>
      <p:sp>
        <p:nvSpPr>
          <p:cNvPr id="14" name="Shape 14"/>
          <p:cNvSpPr/>
          <p:nvPr/>
        </p:nvSpPr>
        <p:spPr>
          <a:xfrm>
            <a:off x="381000" y="5086350"/>
            <a:ext cx="72390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476250" y="5162550"/>
            <a:ext cx="361950" cy="3619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476250" y="516255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933450" y="5086350"/>
            <a:ext cx="6610350" cy="5143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Eksikatorda sovutib tortiladi; massa oʻzgarmaguncha takrorlanadi (m₂)</a:t>
            </a:r>
            <a:endParaRPr lang="uz-Latn-UZ" sz="1500" dirty="0"/>
          </a:p>
        </p:txBody>
      </p:sp>
      <p:sp>
        <p:nvSpPr>
          <p:cNvPr id="18" name="Shape 18"/>
          <p:cNvSpPr/>
          <p:nvPr/>
        </p:nvSpPr>
        <p:spPr>
          <a:xfrm>
            <a:off x="7810500" y="3905250"/>
            <a:ext cx="4000500" cy="169545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7962900" y="3943350"/>
            <a:ext cx="3810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uz-Latn-UZ" sz="1600" b="1" i="0" dirty="0">
                <a:solidFill>
                  <a:srgbClr val="E8772E"/>
                </a:solidFill>
                <a:latin typeface="Arial"/>
                <a:cs typeface="Arial"/>
              </a:rPr>
              <a:t>Belgilar:</a:t>
            </a:r>
            <a:endParaRPr lang="uz-Latn-UZ" sz="1600" dirty="0"/>
          </a:p>
          <a:p>
            <a:pPr algn="l">
              <a:spcAft>
                <a:spcPts val="2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m₀ — boʻsh byuks massasi, g</a:t>
            </a:r>
            <a:endParaRPr lang="uz-Latn-UZ" sz="1400" dirty="0"/>
          </a:p>
          <a:p>
            <a:pPr algn="l">
              <a:spcAft>
                <a:spcPts val="2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m₁ — byuks + namuna (quritishdan oldin), g</a:t>
            </a:r>
            <a:endParaRPr lang="uz-Latn-UZ" sz="1400" dirty="0"/>
          </a:p>
          <a:p>
            <a:pPr algn="l">
              <a:spcAft>
                <a:spcPts val="2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m₂ — byuks + namuna (quritishdan keyin), g</a:t>
            </a:r>
            <a:endParaRPr lang="uz-Latn-UZ" sz="1400" dirty="0"/>
          </a:p>
          <a:p>
            <a:pPr algn="l">
              <a:spcAft>
                <a:spcPts val="6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W — namlik, %</a:t>
            </a:r>
            <a:endParaRPr lang="uz-Latn-UZ" sz="1400" dirty="0"/>
          </a:p>
        </p:txBody>
      </p:sp>
      <p:sp>
        <p:nvSpPr>
          <p:cNvPr id="20" name="Shape 20"/>
          <p:cNvSpPr/>
          <p:nvPr/>
        </p:nvSpPr>
        <p:spPr>
          <a:xfrm>
            <a:off x="381000" y="571500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1" name="Shape 21"/>
          <p:cNvSpPr/>
          <p:nvPr/>
        </p:nvSpPr>
        <p:spPr>
          <a:xfrm>
            <a:off x="381000" y="5715000"/>
            <a:ext cx="57150" cy="6858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533400" y="5715000"/>
            <a:ext cx="1122045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Misol: m₀ = 20,00 g; m₁ = 25,00 g; m₂ = 24,15 g; W = (25,00 – 24,15) / (25,00 – 20,00) × 100 =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17,0 %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; mayiz uchun meʼyorga mos (maks. 19 %).</a:t>
            </a:r>
            <a:endParaRPr lang="uz-Latn-UZ" sz="1600" dirty="0"/>
          </a:p>
        </p:txBody>
      </p:sp>
      <p:sp>
        <p:nvSpPr>
          <p:cNvPr id="23" name="Shape 2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4" name="Shape 2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25" name="Shape 2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16</a:t>
            </a:r>
            <a:endParaRPr lang="uz-Latn-UZ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3-topshiriq: quruq mahsulot chiqishi va quritish koeffitsienti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6197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533400" y="1123950"/>
            <a:ext cx="5334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Asosiy formulalar</a:t>
            </a:r>
            <a:endParaRPr lang="uz-Latn-UZ" sz="1800" dirty="0"/>
          </a:p>
          <a:p>
            <a:pPr algn="l">
              <a:spcAft>
                <a:spcPts val="8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Quruq mahsulot chiqishi:   </a:t>
            </a: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B = A · (100 – W₁) / (100 – W₂)</a:t>
            </a:r>
            <a:endParaRPr lang="uz-Latn-UZ" sz="1500" dirty="0"/>
          </a:p>
          <a:p>
            <a:pPr algn="l">
              <a:spcAft>
                <a:spcPts val="8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Bugʻlangan suv:  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X = A – B</a:t>
            </a:r>
            <a:endParaRPr lang="uz-Latn-UZ" sz="1600" dirty="0"/>
          </a:p>
          <a:p>
            <a:pPr algn="l">
              <a:spcAft>
                <a:spcPts val="10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Quritish koeffitsienti:  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K = A / B</a:t>
            </a:r>
            <a:endParaRPr lang="uz-Latn-UZ" sz="1600" dirty="0"/>
          </a:p>
          <a:p>
            <a:pPr algn="l">
              <a:spcAft>
                <a:spcPts val="600"/>
              </a:spcAft>
              <a:buNone/>
            </a:pPr>
            <a:r>
              <a:rPr lang="uz-Latn-UZ" sz="1300" b="0" i="0" dirty="0">
                <a:solidFill>
                  <a:srgbClr val="455A64"/>
                </a:solidFill>
                <a:latin typeface="Arial"/>
                <a:cs typeface="Arial"/>
              </a:rPr>
              <a:t>A — yangi xomashyo massasi, kg; W₁ — xomashyo namligi, %; W₂ — quruq mahsulot namligi, %</a:t>
            </a:r>
            <a:endParaRPr lang="uz-Latn-UZ" sz="1300" dirty="0"/>
          </a:p>
        </p:txBody>
      </p:sp>
      <p:sp>
        <p:nvSpPr>
          <p:cNvPr id="7" name="Shape 7"/>
          <p:cNvSpPr/>
          <p:nvPr/>
        </p:nvSpPr>
        <p:spPr>
          <a:xfrm>
            <a:off x="6191250" y="1047750"/>
            <a:ext cx="5619750" cy="23812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6343650" y="1123950"/>
            <a:ext cx="5334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Namunaviy yechim (oʻrik)</a:t>
            </a:r>
            <a:endParaRPr lang="uz-Latn-UZ" sz="1800" dirty="0"/>
          </a:p>
          <a:p>
            <a:pPr algn="l">
              <a:spcAft>
                <a:spcPts val="8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A = 100 kg;  W₁ = 85 %;  W₂ = 18 %</a:t>
            </a:r>
            <a:endParaRPr lang="uz-Latn-UZ" sz="1600" dirty="0"/>
          </a:p>
          <a:p>
            <a:pPr algn="l">
              <a:spcAft>
                <a:spcPts val="8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B = 100 · (100 – 85) / (100 – 18) = 100 · 15 / 82 =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18,3 kg</a:t>
            </a:r>
            <a:endParaRPr lang="uz-Latn-UZ" sz="1600" dirty="0"/>
          </a:p>
          <a:p>
            <a:pPr algn="l">
              <a:spcAft>
                <a:spcPts val="8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X = 100 – 18,3 =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81,7 kg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suv bugʻlanadi</a:t>
            </a:r>
            <a:endParaRPr lang="uz-Latn-UZ" sz="1600" dirty="0"/>
          </a:p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K = 100 / 18,3 =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5,5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 (5,5 kg oʻrikdan 1 kg qoqi)</a:t>
            </a:r>
            <a:endParaRPr lang="uz-Latn-UZ" sz="16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57" y="3571875"/>
            <a:ext cx="4721087" cy="2857500"/>
          </a:xfrm>
          <a:prstGeom prst="rect">
            <a:avLst/>
          </a:prstGeom>
        </p:spPr>
      </p:pic>
      <p:sp>
        <p:nvSpPr>
          <p:cNvPr id="10" name="Shape 10"/>
          <p:cNvSpPr/>
          <p:nvPr/>
        </p:nvSpPr>
        <p:spPr>
          <a:xfrm>
            <a:off x="6667500" y="3619500"/>
            <a:ext cx="5143500" cy="276225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667500" y="3619500"/>
            <a:ext cx="57150" cy="27622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819900" y="3619500"/>
            <a:ext cx="4933950" cy="2762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Quruq moddalar massasi quritishda oʻzgarmaydi: A·(100 – W₁) = B·(100 – W₂). Formulalar shu tenglikdan kelib chiqadi. Ishlov berishda (yuvish, qayta quritish) ham shu tamoyil asosida massa oʻzgarishi hisoblanadi.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5" name="Shape 1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17</a:t>
            </a:r>
            <a:endParaRPr lang="uz-Latn-UZ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Mustaqil hisoblash uchun topshiriq variantlari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306705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2381250"/>
                <a:gridCol w="1619250"/>
                <a:gridCol w="1619250"/>
                <a:gridCol w="1619250"/>
                <a:gridCol w="1524000"/>
                <a:gridCol w="1524000"/>
              </a:tblGrid>
              <a:tr h="438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Xomashyo – mahsulot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A, kg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W₁,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W₂,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B, kg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Uzum – mayiz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500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78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Oʻrik – qoqi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400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86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Olxoʻri – qoqi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300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84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Olma – qoqi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600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86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 – quruq sabzi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200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88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Piyoz – quruq piyoz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86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4305300"/>
            <a:ext cx="11430000" cy="8572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4305300"/>
            <a:ext cx="57150" cy="8572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4305300"/>
            <a:ext cx="11220450" cy="857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Har bir talaba oʻz variantida quruq mahsulot chiqishi (B), bugʻlangan suv miqdori (X) va quritish koeffitsientini (K) hisoblab, natijani grafikdagi oraliq bilan solishtiradi va xulosa yozadi.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381000" y="5353050"/>
            <a:ext cx="114300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5353050"/>
            <a:ext cx="76200" cy="10287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552450" y="5429250"/>
            <a:ext cx="1118235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Hisobotda boʻlishi kerak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552450" y="5772150"/>
            <a:ext cx="11182350" cy="5524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Mashgʻulot mavzusi, maqsadi, jihozlar; organoleptik baholash jadvali; namlikni aniqlash natijalari va hisoblari; variant boʻyicha hisob-kitob va xulosa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5" name="Shape 1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18</a:t>
            </a:r>
            <a:endParaRPr lang="uz-Latn-UZ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Xulosa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11430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Quritilgan meva va sabzavotlar isteʼmolga va saqlashga yuborilishidan oldin albatta </a:t>
            </a:r>
            <a:r>
              <a:rPr lang="uz-Latn-UZ" sz="1800" b="1" i="0" dirty="0">
                <a:solidFill>
                  <a:srgbClr val="263238"/>
                </a:solidFill>
                <a:latin typeface="Arial"/>
                <a:cs typeface="Arial"/>
              </a:rPr>
              <a:t>ishlov berish</a:t>
            </a: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 bosqichlaridan oʻtadi.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Asosiy bosqichlar: </a:t>
            </a:r>
            <a:r>
              <a:rPr lang="uz-Latn-UZ" sz="1800" b="1" i="0" dirty="0">
                <a:solidFill>
                  <a:srgbClr val="263238"/>
                </a:solidFill>
                <a:latin typeface="Arial"/>
                <a:cs typeface="Arial"/>
              </a:rPr>
              <a:t>qabul – saralash – tozalash – yuvish – maxsus ishlov – kalibrlash – qadoqlash</a:t>
            </a: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Mahsulot sifati organoleptik koʻrsatkichlar va </a:t>
            </a:r>
            <a:r>
              <a:rPr lang="uz-Latn-UZ" sz="1800" b="1" i="0" dirty="0">
                <a:solidFill>
                  <a:srgbClr val="263238"/>
                </a:solidFill>
                <a:latin typeface="Arial"/>
                <a:cs typeface="Arial"/>
              </a:rPr>
              <a:t>namlik</a:t>
            </a: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 boʻyicha baholanadi; namlik meʼyorlanadi.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Sulfitatsiya rangni saqlaydi va qorayishning oldini oladi, lekin qoldiq SO₂ qatʼiy nazorat qilinadi.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Saqlash: 0…+10 °C, havo namligi 60–70 %, germetik qadoq, zararkunandalardan himoya.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Quruq modda balansi formulalari asosida mahsulot chiqishi va quritish koeffitsienti hisoblanadi.</a:t>
            </a:r>
            <a:endParaRPr lang="uz-Latn-UZ" sz="1800" dirty="0"/>
          </a:p>
        </p:txBody>
      </p:sp>
      <p:sp>
        <p:nvSpPr>
          <p:cNvPr id="6" name="Shape 6"/>
          <p:cNvSpPr/>
          <p:nvPr/>
        </p:nvSpPr>
        <p:spPr>
          <a:xfrm>
            <a:off x="381000" y="5429250"/>
            <a:ext cx="11430000" cy="9525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429250"/>
            <a:ext cx="57150" cy="9525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429250"/>
            <a:ext cx="11220450" cy="952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Toʻgʻri ishlov berish — quritilgan mahsulotning sifati, xavfsizligi va eksport salohiyatining kafolati.</a:t>
            </a:r>
            <a:endParaRPr lang="uz-Latn-UZ" sz="1700" dirty="0"/>
          </a:p>
        </p:txBody>
      </p:sp>
      <p:sp>
        <p:nvSpPr>
          <p:cNvPr id="9" name="Shape 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1" name="Shape 1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19</a:t>
            </a:r>
            <a:endParaRPr lang="uz-Latn-UZ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Nazorat savollari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514350" y="1181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14350" y="1181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1047750" y="1123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Quritilgan meva va sabzavotlarga nima uchun ishlov beriladi?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6191250" y="1047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324600" y="1181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324600" y="1181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6858000" y="1123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Mayizga ishlov berishning texnologik sxemasini tushuntiring.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2381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514350" y="2514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514350" y="2514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uz-Latn-UZ" sz="1800" dirty="0"/>
          </a:p>
        </p:txBody>
      </p:sp>
      <p:sp>
        <p:nvSpPr>
          <p:cNvPr id="16" name="Shape 16"/>
          <p:cNvSpPr/>
          <p:nvPr/>
        </p:nvSpPr>
        <p:spPr>
          <a:xfrm>
            <a:off x="1047750" y="2457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Sulfitatsiyaning maqsadi va xavfsizlik talablari qanday?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6191250" y="2381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6324600" y="2514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6324600" y="2514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uz-Latn-UZ" sz="1800" dirty="0"/>
          </a:p>
        </p:txBody>
      </p:sp>
      <p:sp>
        <p:nvSpPr>
          <p:cNvPr id="20" name="Shape 20"/>
          <p:cNvSpPr/>
          <p:nvPr/>
        </p:nvSpPr>
        <p:spPr>
          <a:xfrm>
            <a:off x="6858000" y="2457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Quritilgan mahsulot namligi qanday aniqlanadi?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381000" y="3714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514350" y="3848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514350" y="3848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uz-Latn-UZ" sz="1800" dirty="0"/>
          </a:p>
        </p:txBody>
      </p:sp>
      <p:sp>
        <p:nvSpPr>
          <p:cNvPr id="24" name="Shape 24"/>
          <p:cNvSpPr/>
          <p:nvPr/>
        </p:nvSpPr>
        <p:spPr>
          <a:xfrm>
            <a:off x="1047750" y="3790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Quruq mahsulot chiqishi va quritish koeffitsienti qanday hisoblanadi?</a:t>
            </a:r>
            <a:endParaRPr lang="uz-Latn-UZ" sz="1600" dirty="0"/>
          </a:p>
        </p:txBody>
      </p:sp>
      <p:sp>
        <p:nvSpPr>
          <p:cNvPr id="25" name="Shape 25"/>
          <p:cNvSpPr/>
          <p:nvPr/>
        </p:nvSpPr>
        <p:spPr>
          <a:xfrm>
            <a:off x="6191250" y="3714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6" name="Shape 26"/>
          <p:cNvSpPr/>
          <p:nvPr/>
        </p:nvSpPr>
        <p:spPr>
          <a:xfrm>
            <a:off x="6324600" y="3848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7" name="Shape 27"/>
          <p:cNvSpPr/>
          <p:nvPr/>
        </p:nvSpPr>
        <p:spPr>
          <a:xfrm>
            <a:off x="6324600" y="3848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uz-Latn-UZ" sz="1800" dirty="0"/>
          </a:p>
        </p:txBody>
      </p:sp>
      <p:sp>
        <p:nvSpPr>
          <p:cNvPr id="28" name="Shape 28"/>
          <p:cNvSpPr/>
          <p:nvPr/>
        </p:nvSpPr>
        <p:spPr>
          <a:xfrm>
            <a:off x="6858000" y="3790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Oʻrik mahsulotlarining (turshak, kaysa, qoqi, ashtak) farqi nimada?</a:t>
            </a:r>
            <a:endParaRPr lang="uz-Latn-UZ" sz="1600" dirty="0"/>
          </a:p>
        </p:txBody>
      </p:sp>
      <p:sp>
        <p:nvSpPr>
          <p:cNvPr id="29" name="Shape 29"/>
          <p:cNvSpPr/>
          <p:nvPr/>
        </p:nvSpPr>
        <p:spPr>
          <a:xfrm>
            <a:off x="381000" y="5048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0" name="Shape 30"/>
          <p:cNvSpPr/>
          <p:nvPr/>
        </p:nvSpPr>
        <p:spPr>
          <a:xfrm>
            <a:off x="514350" y="5181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1" name="Shape 31"/>
          <p:cNvSpPr/>
          <p:nvPr/>
        </p:nvSpPr>
        <p:spPr>
          <a:xfrm>
            <a:off x="514350" y="5181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uz-Latn-UZ" sz="1800" dirty="0"/>
          </a:p>
        </p:txBody>
      </p:sp>
      <p:sp>
        <p:nvSpPr>
          <p:cNvPr id="32" name="Shape 32"/>
          <p:cNvSpPr/>
          <p:nvPr/>
        </p:nvSpPr>
        <p:spPr>
          <a:xfrm>
            <a:off x="1047750" y="5124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Quritilgan mahsulotlarni saqlash rejimlari qanday?</a:t>
            </a:r>
            <a:endParaRPr lang="uz-Latn-UZ" sz="1600" dirty="0"/>
          </a:p>
        </p:txBody>
      </p:sp>
      <p:sp>
        <p:nvSpPr>
          <p:cNvPr id="33" name="Shape 33"/>
          <p:cNvSpPr/>
          <p:nvPr/>
        </p:nvSpPr>
        <p:spPr>
          <a:xfrm>
            <a:off x="6191250" y="5048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4" name="Shape 34"/>
          <p:cNvSpPr/>
          <p:nvPr/>
        </p:nvSpPr>
        <p:spPr>
          <a:xfrm>
            <a:off x="6324600" y="5181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5" name="Shape 35"/>
          <p:cNvSpPr/>
          <p:nvPr/>
        </p:nvSpPr>
        <p:spPr>
          <a:xfrm>
            <a:off x="6324600" y="5181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uz-Latn-UZ" sz="1800" dirty="0"/>
          </a:p>
        </p:txBody>
      </p:sp>
      <p:sp>
        <p:nvSpPr>
          <p:cNvPr id="36" name="Shape 36"/>
          <p:cNvSpPr/>
          <p:nvPr/>
        </p:nvSpPr>
        <p:spPr>
          <a:xfrm>
            <a:off x="6858000" y="5124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Saqlash davrida qanday nuqsonlar paydo boʻladi va ularning oldi qanday olinadi?</a:t>
            </a:r>
            <a:endParaRPr lang="uz-Latn-UZ" sz="1600" dirty="0"/>
          </a:p>
        </p:txBody>
      </p:sp>
      <p:sp>
        <p:nvSpPr>
          <p:cNvPr id="37" name="Shape 37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8" name="Shape 38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39" name="Shape 39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20</a:t>
            </a:r>
            <a:endParaRPr lang="uz-Latn-UZ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Bilimni mustahkamlash: test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287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28700"/>
            <a:ext cx="76200" cy="8763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90550" y="10858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1. Quritilgan sabzavotlarning odatiy namligi:</a:t>
            </a:r>
            <a:endParaRPr lang="uz-Latn-UZ" sz="1700" dirty="0"/>
          </a:p>
        </p:txBody>
      </p:sp>
      <p:sp>
        <p:nvSpPr>
          <p:cNvPr id="8" name="Shape 8"/>
          <p:cNvSpPr/>
          <p:nvPr/>
        </p:nvSpPr>
        <p:spPr>
          <a:xfrm>
            <a:off x="590550" y="14478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8–14 %     B) 25–30 %     C) 40–45 %     D) 60–70 %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381000" y="20193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2019300"/>
            <a:ext cx="76200" cy="8763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590550" y="20764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2. Danagi olib tashlangan butun quritilgan oʻrik nima deyiladi?</a:t>
            </a:r>
            <a:endParaRPr lang="uz-Latn-UZ" sz="1700" dirty="0"/>
          </a:p>
        </p:txBody>
      </p:sp>
      <p:sp>
        <p:nvSpPr>
          <p:cNvPr id="12" name="Shape 12"/>
          <p:cNvSpPr/>
          <p:nvPr/>
        </p:nvSpPr>
        <p:spPr>
          <a:xfrm>
            <a:off x="590550" y="24384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Turshak     B) Kaysa     C) Ashtak     D) Qoqi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30099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3009900"/>
            <a:ext cx="76200" cy="8763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590550" y="30670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3. Sulfitatsiyada qaysi modda qoʻllaniladi?</a:t>
            </a:r>
            <a:endParaRPr lang="uz-Latn-UZ" sz="1700" dirty="0"/>
          </a:p>
        </p:txBody>
      </p:sp>
      <p:sp>
        <p:nvSpPr>
          <p:cNvPr id="16" name="Shape 16"/>
          <p:cNvSpPr/>
          <p:nvPr/>
        </p:nvSpPr>
        <p:spPr>
          <a:xfrm>
            <a:off x="590550" y="3429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CO₂     B) N₂     C) SO₂     D) O₃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381000" y="40005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381000" y="4000500"/>
            <a:ext cx="76200" cy="8763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590550" y="40576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4. Namlikni aniqlashda quritish shkafining harorati:</a:t>
            </a:r>
            <a:endParaRPr lang="uz-Latn-UZ" sz="1700" dirty="0"/>
          </a:p>
        </p:txBody>
      </p:sp>
      <p:sp>
        <p:nvSpPr>
          <p:cNvPr id="20" name="Shape 20"/>
          <p:cNvSpPr/>
          <p:nvPr/>
        </p:nvSpPr>
        <p:spPr>
          <a:xfrm>
            <a:off x="590550" y="4419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40–50 °C     B) 70–80 °C     C) 100–105 °C     D) 150–160 °C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381000" y="49911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381000" y="4991100"/>
            <a:ext cx="76200" cy="8763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590550" y="50482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5. A = 100 kg, W₁ = 85 %, W₂ = 18 % boʻlsa, quruq mahsulot chiqishi:</a:t>
            </a:r>
            <a:endParaRPr lang="uz-Latn-UZ" sz="1700" dirty="0"/>
          </a:p>
        </p:txBody>
      </p:sp>
      <p:sp>
        <p:nvSpPr>
          <p:cNvPr id="24" name="Shape 24"/>
          <p:cNvSpPr/>
          <p:nvPr/>
        </p:nvSpPr>
        <p:spPr>
          <a:xfrm>
            <a:off x="590550" y="54102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15,0 kg     B) 18,3 kg     C) 25,0 kg     D) 82,0 kg</a:t>
            </a:r>
            <a:endParaRPr lang="uz-Latn-UZ" sz="1600" dirty="0"/>
          </a:p>
        </p:txBody>
      </p:sp>
      <p:sp>
        <p:nvSpPr>
          <p:cNvPr id="25" name="Shape 25"/>
          <p:cNvSpPr/>
          <p:nvPr/>
        </p:nvSpPr>
        <p:spPr>
          <a:xfrm>
            <a:off x="381000" y="60198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400" b="1" i="0" dirty="0">
                <a:solidFill>
                  <a:srgbClr val="9AA79C"/>
                </a:solidFill>
                <a:latin typeface="Arial"/>
                <a:cs typeface="Arial"/>
              </a:rPr>
              <a:t>Javoblar: 1 – A; 2 – B; 3 – C; 4 – C; 5 – B</a:t>
            </a:r>
            <a:endParaRPr lang="uz-Latn-UZ" sz="1400" dirty="0"/>
          </a:p>
        </p:txBody>
      </p:sp>
      <p:sp>
        <p:nvSpPr>
          <p:cNvPr id="26" name="Shape 2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7" name="Shape 2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28" name="Shape 2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21</a:t>
            </a:r>
            <a:endParaRPr lang="uz-Latn-UZ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14300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Foydalanilgan adabiyotlar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11430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Широков Е.П., Полегаев В.И. Хранение и переработка плодов и овощей. — Москва: Агропромиздат.</a:t>
            </a:r>
            <a:endParaRPr lang="uz-Latn-UZ" sz="1600" dirty="0"/>
          </a:p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Трисвятский Л.А. и др. Хранение и технология сельскохозяйственных продуктов. — Москва: Агропромиздат.</a:t>
            </a:r>
            <a:endParaRPr lang="uz-Latn-UZ" sz="1600" dirty="0"/>
          </a:p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Гинзбург А.С. Сушка пищевых продуктов. — Москва: Пищевая промышленность.</a:t>
            </a:r>
            <a:endParaRPr lang="uz-Latn-UZ" sz="1600" dirty="0"/>
          </a:p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Qishloq xoʻjalik mahsulotlarini saqlash va dastlabki ishlash texnologiyasi fanidan oʻquv-uslubiy majmua (4-amaliy mashgʻulot materiallari).</a:t>
            </a:r>
            <a:endParaRPr lang="uz-Latn-UZ" sz="1600" dirty="0"/>
          </a:p>
        </p:txBody>
      </p:sp>
      <p:sp>
        <p:nvSpPr>
          <p:cNvPr id="6" name="Shape 6"/>
          <p:cNvSpPr/>
          <p:nvPr/>
        </p:nvSpPr>
        <p:spPr>
          <a:xfrm>
            <a:off x="381000" y="5524500"/>
            <a:ext cx="11430000" cy="85725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524500"/>
            <a:ext cx="57150" cy="85725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524500"/>
            <a:ext cx="11220450" cy="857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Izoh: jadval va diagrammalardagi raqamlar oʻquv adabiyotlaridagi oʻrtacha (taxminiy) qiymatlar asosida keltirilgan; aniq meʼyorlar uchun amaldagi standartlarga murojaat qiling.</a:t>
            </a:r>
            <a:endParaRPr lang="uz-Latn-UZ" sz="1400" dirty="0"/>
          </a:p>
        </p:txBody>
      </p:sp>
      <p:sp>
        <p:nvSpPr>
          <p:cNvPr id="9" name="Shape 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4-amaliy mashgʻulot. Quritilgan meva va sabzavotlarga ishlov berish</a:t>
            </a:r>
            <a:endParaRPr lang="uz-Latn-UZ" sz="1100" dirty="0"/>
          </a:p>
        </p:txBody>
      </p:sp>
      <p:sp>
        <p:nvSpPr>
          <p:cNvPr id="11" name="Shape 1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22</a:t>
            </a:r>
            <a:endParaRPr lang="uz-Latn-UZ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o">
  <a:themeElements>
    <a:clrScheme name="Agro">
      <a:dk1>
        <a:srgbClr val="000000"/>
      </a:dk1>
      <a:lt1>
        <a:srgbClr val="FFFFFF"/>
      </a:lt1>
      <a:dk2>
        <a:srgbClr val="1E5631"/>
      </a:dk2>
      <a:lt2>
        <a:srgbClr val="FAF7F0"/>
      </a:lt2>
      <a:accent1>
        <a:srgbClr val="1E5631"/>
      </a:accent1>
      <a:accent2>
        <a:srgbClr val="E8772E"/>
      </a:accent2>
      <a:accent3>
        <a:srgbClr val="8B1E3F"/>
      </a:accent3>
      <a:accent4>
        <a:srgbClr val="558B2F"/>
      </a:accent4>
      <a:accent5>
        <a:srgbClr val="1F6FB2"/>
      </a:accent5>
      <a:accent6>
        <a:srgbClr val="B7950B"/>
      </a:accent6>
      <a:hlink>
        <a:srgbClr val="1F6FB2"/>
      </a:hlink>
      <a:folHlink>
        <a:srgbClr val="5B2C6F"/>
      </a:folHlink>
    </a:clrScheme>
    <a:fontScheme name="Agr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g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Quritilgan meva va sabzavotlarga ishlov berish</dc:title>
  <dc:creator>Kiro</dc:creator>
  <dcterms:created xsi:type="dcterms:W3CDTF">2026-10-14T00:00:00Z</dcterms:created>
</cp:coreProperties>
</file>